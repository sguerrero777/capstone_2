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4" r:id="rId2"/>
  </p:sldMasterIdLst>
  <p:notesMasterIdLst>
    <p:notesMasterId r:id="rId13"/>
  </p:notesMasterIdLst>
  <p:sldIdLst>
    <p:sldId id="257" r:id="rId3"/>
    <p:sldId id="289" r:id="rId4"/>
    <p:sldId id="292" r:id="rId5"/>
    <p:sldId id="294" r:id="rId6"/>
    <p:sldId id="295" r:id="rId7"/>
    <p:sldId id="296" r:id="rId8"/>
    <p:sldId id="297" r:id="rId9"/>
    <p:sldId id="299" r:id="rId10"/>
    <p:sldId id="300" r:id="rId11"/>
    <p:sldId id="30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6FC8B-551A-4E8F-AD64-7F6396D7AC1D}" v="30" dt="2026-05-29T04:10:38.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8" autoAdjust="0"/>
    <p:restoredTop sz="94660"/>
  </p:normalViewPr>
  <p:slideViewPr>
    <p:cSldViewPr snapToGrid="0">
      <p:cViewPr varScale="1">
        <p:scale>
          <a:sx n="73" d="100"/>
          <a:sy n="73" d="100"/>
        </p:scale>
        <p:origin x="6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leen guerrero" userId="3aa031e9-e6a7-468f-bc3b-fce99a2b0b37" providerId="ADAL" clId="{A08EFAD0-E507-44ED-BFB5-F5D566E874EF}"/>
    <pc:docChg chg="addSld delSld modSld delMainMaster">
      <pc:chgData name="sharleen guerrero" userId="3aa031e9-e6a7-468f-bc3b-fce99a2b0b37" providerId="ADAL" clId="{A08EFAD0-E507-44ED-BFB5-F5D566E874EF}" dt="2026-05-29T04:10:38.919" v="30"/>
      <pc:docMkLst>
        <pc:docMk/>
      </pc:docMkLst>
      <pc:sldChg chg="del">
        <pc:chgData name="sharleen guerrero" userId="3aa031e9-e6a7-468f-bc3b-fce99a2b0b37" providerId="ADAL" clId="{A08EFAD0-E507-44ED-BFB5-F5D566E874EF}" dt="2026-05-29T04:08:43.109" v="6" actId="47"/>
        <pc:sldMkLst>
          <pc:docMk/>
          <pc:sldMk cId="4062536282" sldId="256"/>
        </pc:sldMkLst>
      </pc:sldChg>
      <pc:sldChg chg="add del setBg">
        <pc:chgData name="sharleen guerrero" userId="3aa031e9-e6a7-468f-bc3b-fce99a2b0b37" providerId="ADAL" clId="{A08EFAD0-E507-44ED-BFB5-F5D566E874EF}" dt="2026-05-29T04:06:37.674" v="2"/>
        <pc:sldMkLst>
          <pc:docMk/>
          <pc:sldMk cId="0" sldId="257"/>
        </pc:sldMkLst>
      </pc:sldChg>
      <pc:sldChg chg="add del setBg">
        <pc:chgData name="sharleen guerrero" userId="3aa031e9-e6a7-468f-bc3b-fce99a2b0b37" providerId="ADAL" clId="{A08EFAD0-E507-44ED-BFB5-F5D566E874EF}" dt="2026-05-29T04:08:41.571" v="5"/>
        <pc:sldMkLst>
          <pc:docMk/>
          <pc:sldMk cId="3909628823" sldId="289"/>
        </pc:sldMkLst>
      </pc:sldChg>
      <pc:sldChg chg="add del setBg">
        <pc:chgData name="sharleen guerrero" userId="3aa031e9-e6a7-468f-bc3b-fce99a2b0b37" providerId="ADAL" clId="{A08EFAD0-E507-44ED-BFB5-F5D566E874EF}" dt="2026-05-29T04:09:02.588" v="9"/>
        <pc:sldMkLst>
          <pc:docMk/>
          <pc:sldMk cId="4200903726" sldId="292"/>
        </pc:sldMkLst>
      </pc:sldChg>
      <pc:sldChg chg="add del setBg">
        <pc:chgData name="sharleen guerrero" userId="3aa031e9-e6a7-468f-bc3b-fce99a2b0b37" providerId="ADAL" clId="{A08EFAD0-E507-44ED-BFB5-F5D566E874EF}" dt="2026-05-29T04:09:12.435" v="12"/>
        <pc:sldMkLst>
          <pc:docMk/>
          <pc:sldMk cId="4196441025" sldId="294"/>
        </pc:sldMkLst>
      </pc:sldChg>
      <pc:sldChg chg="add del setBg">
        <pc:chgData name="sharleen guerrero" userId="3aa031e9-e6a7-468f-bc3b-fce99a2b0b37" providerId="ADAL" clId="{A08EFAD0-E507-44ED-BFB5-F5D566E874EF}" dt="2026-05-29T04:09:35.118" v="15"/>
        <pc:sldMkLst>
          <pc:docMk/>
          <pc:sldMk cId="1171356556" sldId="295"/>
        </pc:sldMkLst>
      </pc:sldChg>
      <pc:sldChg chg="add del setBg">
        <pc:chgData name="sharleen guerrero" userId="3aa031e9-e6a7-468f-bc3b-fce99a2b0b37" providerId="ADAL" clId="{A08EFAD0-E507-44ED-BFB5-F5D566E874EF}" dt="2026-05-29T04:09:44.271" v="18"/>
        <pc:sldMkLst>
          <pc:docMk/>
          <pc:sldMk cId="884845537" sldId="296"/>
        </pc:sldMkLst>
      </pc:sldChg>
      <pc:sldChg chg="add del setBg">
        <pc:chgData name="sharleen guerrero" userId="3aa031e9-e6a7-468f-bc3b-fce99a2b0b37" providerId="ADAL" clId="{A08EFAD0-E507-44ED-BFB5-F5D566E874EF}" dt="2026-05-29T04:09:52.656" v="21"/>
        <pc:sldMkLst>
          <pc:docMk/>
          <pc:sldMk cId="3278617106" sldId="297"/>
        </pc:sldMkLst>
      </pc:sldChg>
      <pc:sldChg chg="add del setBg">
        <pc:chgData name="sharleen guerrero" userId="3aa031e9-e6a7-468f-bc3b-fce99a2b0b37" providerId="ADAL" clId="{A08EFAD0-E507-44ED-BFB5-F5D566E874EF}" dt="2026-05-29T04:10:22.250" v="24"/>
        <pc:sldMkLst>
          <pc:docMk/>
          <pc:sldMk cId="3541054385" sldId="299"/>
        </pc:sldMkLst>
      </pc:sldChg>
      <pc:sldChg chg="add del setBg">
        <pc:chgData name="sharleen guerrero" userId="3aa031e9-e6a7-468f-bc3b-fce99a2b0b37" providerId="ADAL" clId="{A08EFAD0-E507-44ED-BFB5-F5D566E874EF}" dt="2026-05-29T04:10:29.667" v="27"/>
        <pc:sldMkLst>
          <pc:docMk/>
          <pc:sldMk cId="0" sldId="300"/>
        </pc:sldMkLst>
      </pc:sldChg>
      <pc:sldChg chg="add del setBg">
        <pc:chgData name="sharleen guerrero" userId="3aa031e9-e6a7-468f-bc3b-fce99a2b0b37" providerId="ADAL" clId="{A08EFAD0-E507-44ED-BFB5-F5D566E874EF}" dt="2026-05-29T04:10:38.919" v="30"/>
        <pc:sldMkLst>
          <pc:docMk/>
          <pc:sldMk cId="3970063657" sldId="301"/>
        </pc:sldMkLst>
      </pc:sldChg>
      <pc:sldMasterChg chg="del delSldLayout">
        <pc:chgData name="sharleen guerrero" userId="3aa031e9-e6a7-468f-bc3b-fce99a2b0b37" providerId="ADAL" clId="{A08EFAD0-E507-44ED-BFB5-F5D566E874EF}" dt="2026-05-29T04:08:43.109" v="6" actId="47"/>
        <pc:sldMasterMkLst>
          <pc:docMk/>
          <pc:sldMasterMk cId="3949658342" sldId="2147483648"/>
        </pc:sldMasterMkLst>
        <pc:sldLayoutChg chg="del">
          <pc:chgData name="sharleen guerrero" userId="3aa031e9-e6a7-468f-bc3b-fce99a2b0b37" providerId="ADAL" clId="{A08EFAD0-E507-44ED-BFB5-F5D566E874EF}" dt="2026-05-29T04:08:43.109" v="6" actId="47"/>
          <pc:sldLayoutMkLst>
            <pc:docMk/>
            <pc:sldMasterMk cId="3949658342" sldId="2147483648"/>
            <pc:sldLayoutMk cId="1237444565" sldId="2147483649"/>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4004655573" sldId="2147483650"/>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2679976671" sldId="2147483651"/>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3079471543" sldId="2147483652"/>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3988459250" sldId="2147483653"/>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3618132713" sldId="2147483654"/>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699219205" sldId="2147483655"/>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284643393" sldId="2147483656"/>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3466409357" sldId="2147483657"/>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4188535271" sldId="2147483658"/>
          </pc:sldLayoutMkLst>
        </pc:sldLayoutChg>
        <pc:sldLayoutChg chg="del">
          <pc:chgData name="sharleen guerrero" userId="3aa031e9-e6a7-468f-bc3b-fce99a2b0b37" providerId="ADAL" clId="{A08EFAD0-E507-44ED-BFB5-F5D566E874EF}" dt="2026-05-29T04:08:43.109" v="6" actId="47"/>
          <pc:sldLayoutMkLst>
            <pc:docMk/>
            <pc:sldMasterMk cId="3949658342" sldId="2147483648"/>
            <pc:sldLayoutMk cId="1830937994"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D8CCE-21CE-48A0-9340-D2E30EF0EAB4}"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0A0D5-E9D2-4D02-9B7B-E5A0A8C4A8F2}" type="slidenum">
              <a:rPr lang="en-US" smtClean="0"/>
              <a:t>‹#›</a:t>
            </a:fld>
            <a:endParaRPr lang="en-US"/>
          </a:p>
        </p:txBody>
      </p:sp>
    </p:spTree>
    <p:extLst>
      <p:ext uri="{BB962C8B-B14F-4D97-AF65-F5344CB8AC3E}">
        <p14:creationId xmlns:p14="http://schemas.microsoft.com/office/powerpoint/2010/main" val="3448409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8D84C3-B1D2-4EB8-932A-2B01EA33B63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5411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973C-D032-665B-DB5C-9BFDFA46C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6658F-9E8C-ED18-2966-5A40E133D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F9972-0A99-A800-5CD2-C00C951549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CA0840-C4A6-C211-445C-ACA91C14A44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6815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12BE4-2496-04AA-E62B-82FE70F5C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F4053-0989-EC77-56C5-04FB4F2DA4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E0709-57F4-E255-61D4-706067CE2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5E0250-EDCA-0D3C-E6D5-EDA9DC23DAD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3645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9A29-D37A-0EDF-99B2-9314F6F7B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4B9B2-30E5-94BB-C7CB-DB5D60043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3C089-FEBB-7C86-3D45-784B4A0927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2FD109-73A9-78DB-0E32-21ECDEDE9A8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2754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BC1B-0C25-2F56-9DF2-C5AB21DCC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B0751-AC65-CCBE-69C0-C4CA4CC54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AF2D3-ED4A-00C8-8540-820ED5C921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D8F7CF-AFA7-F563-57E4-EC142577BC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7389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D9387-0E53-EF62-845A-DEC29744C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7AB0A-06E4-DCA6-B915-45EC00020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88AA5-EF5F-45FE-3692-9CC2535214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CBAC96-3A08-30E5-11CC-8B8ED43588F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5283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C1A8B-5937-7E9C-8E9F-19EAF6F26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76B84-5290-80E8-35E6-D34A59895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D3318-AA26-111E-8B97-2FD2E1E9B4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254F2-E418-5BC4-EFAF-784108CDBAD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8819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5F11-ACB6-5842-64B7-47B75D0E6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76A29-0393-F2BA-DCD5-2BD8CAC52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8CCD3-78B5-5BEA-AA08-9902469111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69235-93B6-72B9-0402-F858DBCF25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1043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meline Dark">
    <p:bg>
      <p:bgPr>
        <a:solidFill>
          <a:schemeClr val="tx2">
            <a:lumMod val="7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39F7D1-31ED-4588-7F6B-7214367FBA9F}"/>
              </a:ext>
            </a:extLst>
          </p:cNvPr>
          <p:cNvSpPr>
            <a:spLocks noGrp="1"/>
          </p:cNvSpPr>
          <p:nvPr>
            <p:ph type="title" hasCustomPrompt="1"/>
          </p:nvPr>
        </p:nvSpPr>
        <p:spPr>
          <a:xfrm>
            <a:off x="618744" y="209677"/>
            <a:ext cx="9064752" cy="1097915"/>
          </a:xfrm>
        </p:spPr>
        <p:txBody>
          <a:bodyPr anchor="b">
            <a:normAutofit/>
          </a:bodyPr>
          <a:lstStyle>
            <a:lvl1pPr>
              <a:defRPr sz="5400">
                <a:solidFill>
                  <a:schemeClr val="bg1"/>
                </a:solidFill>
                <a:latin typeface="+mn-lt"/>
              </a:defRPr>
            </a:lvl1pPr>
          </a:lstStyle>
          <a:p>
            <a:r>
              <a:rPr lang="en-US" dirty="0"/>
              <a:t>Click to add title</a:t>
            </a:r>
          </a:p>
        </p:txBody>
      </p:sp>
      <p:sp>
        <p:nvSpPr>
          <p:cNvPr id="12" name="Text Placeholder 11">
            <a:extLst>
              <a:ext uri="{FF2B5EF4-FFF2-40B4-BE49-F238E27FC236}">
                <a16:creationId xmlns:a16="http://schemas.microsoft.com/office/drawing/2014/main" id="{413A1C6A-339B-343A-B0AD-F761FE910519}"/>
              </a:ext>
            </a:extLst>
          </p:cNvPr>
          <p:cNvSpPr>
            <a:spLocks noGrp="1"/>
          </p:cNvSpPr>
          <p:nvPr>
            <p:ph type="body" sz="quarter" idx="13" hasCustomPrompt="1"/>
          </p:nvPr>
        </p:nvSpPr>
        <p:spPr>
          <a:xfrm>
            <a:off x="618745" y="1344676"/>
            <a:ext cx="9064752" cy="511175"/>
          </a:xfrm>
        </p:spPr>
        <p:txBody>
          <a:bodyPr lIns="164592" tIns="0">
            <a:no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50" name="Oval 49">
            <a:extLst>
              <a:ext uri="{FF2B5EF4-FFF2-40B4-BE49-F238E27FC236}">
                <a16:creationId xmlns:a16="http://schemas.microsoft.com/office/drawing/2014/main" id="{535829F9-B704-5645-ABE3-F98170E89B44}"/>
              </a:ext>
              <a:ext uri="{C183D7F6-B498-43B3-948B-1728B52AA6E4}">
                <adec:decorative xmlns:adec="http://schemas.microsoft.com/office/drawing/2017/decorative" val="1"/>
              </a:ext>
            </a:extLst>
          </p:cNvPr>
          <p:cNvSpPr/>
          <p:nvPr userDrawn="1"/>
        </p:nvSpPr>
        <p:spPr>
          <a:xfrm>
            <a:off x="10396346" y="585334"/>
            <a:ext cx="1005840" cy="1005840"/>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13">
            <a:extLst>
              <a:ext uri="{FF2B5EF4-FFF2-40B4-BE49-F238E27FC236}">
                <a16:creationId xmlns:a16="http://schemas.microsoft.com/office/drawing/2014/main" id="{5807DD9B-8716-9B22-9F91-88E6071F91D3}"/>
              </a:ext>
            </a:extLst>
          </p:cNvPr>
          <p:cNvSpPr>
            <a:spLocks noGrp="1" noChangeAspect="1"/>
          </p:cNvSpPr>
          <p:nvPr>
            <p:ph type="pic" sz="quarter" idx="14"/>
          </p:nvPr>
        </p:nvSpPr>
        <p:spPr>
          <a:xfrm>
            <a:off x="10487786" y="649342"/>
            <a:ext cx="822960" cy="822960"/>
          </a:xfrm>
          <a:prstGeom prst="ellipse">
            <a:avLst/>
          </a:prstGeom>
          <a:ln w="22225">
            <a:noFill/>
          </a:ln>
        </p:spPr>
        <p:txBody>
          <a:bodyPr lIns="0" tIns="0" rIns="0" bIns="0">
            <a:normAutofit/>
          </a:bodyPr>
          <a:lstStyle>
            <a:lvl1pPr marL="0" indent="0" algn="ctr">
              <a:buNone/>
              <a:defRPr sz="1000">
                <a:solidFill>
                  <a:schemeClr val="bg1"/>
                </a:solidFill>
              </a:defRPr>
            </a:lvl1pPr>
          </a:lstStyle>
          <a:p>
            <a:r>
              <a:rPr lang="en-US"/>
              <a:t>Click icon to add picture</a:t>
            </a:r>
            <a:endParaRPr lang="en-US" dirty="0"/>
          </a:p>
        </p:txBody>
      </p:sp>
      <p:sp>
        <p:nvSpPr>
          <p:cNvPr id="15" name="Text Placeholder 11">
            <a:extLst>
              <a:ext uri="{FF2B5EF4-FFF2-40B4-BE49-F238E27FC236}">
                <a16:creationId xmlns:a16="http://schemas.microsoft.com/office/drawing/2014/main" id="{3465C986-E3D2-97E7-9111-0299F9C3B1D2}"/>
              </a:ext>
            </a:extLst>
          </p:cNvPr>
          <p:cNvSpPr>
            <a:spLocks noGrp="1"/>
          </p:cNvSpPr>
          <p:nvPr>
            <p:ph type="body" sz="quarter" idx="15" hasCustomPrompt="1"/>
          </p:nvPr>
        </p:nvSpPr>
        <p:spPr>
          <a:xfrm>
            <a:off x="673608"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0" name="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753404" y="3046075"/>
            <a:ext cx="1828633" cy="96903"/>
          </a:xfrm>
          <a:prstGeom prst="rect">
            <a:avLst/>
          </a:prstGeom>
          <a:gradFill>
            <a:gsLst>
              <a:gs pos="0">
                <a:schemeClr val="accent1">
                  <a:lumMod val="60000"/>
                  <a:lumOff val="40000"/>
                </a:schemeClr>
              </a:gs>
              <a:gs pos="100000">
                <a:schemeClr val="accent3">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673608"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5" name="Text Placeholder 11">
            <a:extLst>
              <a:ext uri="{FF2B5EF4-FFF2-40B4-BE49-F238E27FC236}">
                <a16:creationId xmlns:a16="http://schemas.microsoft.com/office/drawing/2014/main" id="{70FD3BFF-C0B9-AA50-A3D6-B4A48EEF7513}"/>
              </a:ext>
            </a:extLst>
          </p:cNvPr>
          <p:cNvSpPr>
            <a:spLocks noGrp="1"/>
          </p:cNvSpPr>
          <p:nvPr>
            <p:ph type="body" sz="quarter" idx="25" hasCustomPrompt="1"/>
          </p:nvPr>
        </p:nvSpPr>
        <p:spPr>
          <a:xfrm>
            <a:off x="670560" y="4505738"/>
            <a:ext cx="893064" cy="335470"/>
          </a:xfrm>
        </p:spPr>
        <p:txBody>
          <a:bodyPr lIns="91440" tIns="0">
            <a:noAutofit/>
          </a:bodyPr>
          <a:lstStyle>
            <a:lvl1pPr marL="0" indent="0">
              <a:buNone/>
              <a:defRPr sz="2000" cap="all" baseline="0">
                <a:solidFill>
                  <a:schemeClr val="accent1">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1" name="Oval 50">
            <a:extLst>
              <a:ext uri="{FF2B5EF4-FFF2-40B4-BE49-F238E27FC236}">
                <a16:creationId xmlns:a16="http://schemas.microsoft.com/office/drawing/2014/main" id="{EBEE5563-8FF1-7479-E11E-F0144D7533D8}"/>
              </a:ext>
              <a:ext uri="{C183D7F6-B498-43B3-948B-1728B52AA6E4}">
                <adec:decorative xmlns:adec="http://schemas.microsoft.com/office/drawing/2017/decorative" val="1"/>
              </a:ext>
            </a:extLst>
          </p:cNvPr>
          <p:cNvSpPr/>
          <p:nvPr userDrawn="1"/>
        </p:nvSpPr>
        <p:spPr>
          <a:xfrm>
            <a:off x="1682496" y="4399153"/>
            <a:ext cx="685800" cy="685800"/>
          </a:xfrm>
          <a:prstGeom prst="ellipse">
            <a:avLst/>
          </a:prstGeom>
          <a:noFill/>
          <a:ln w="127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13">
            <a:extLst>
              <a:ext uri="{FF2B5EF4-FFF2-40B4-BE49-F238E27FC236}">
                <a16:creationId xmlns:a16="http://schemas.microsoft.com/office/drawing/2014/main" id="{A69C1816-EC8E-961C-AC21-6D86E9C455A1}"/>
              </a:ext>
            </a:extLst>
          </p:cNvPr>
          <p:cNvSpPr>
            <a:spLocks noGrp="1" noChangeAspect="1"/>
          </p:cNvSpPr>
          <p:nvPr>
            <p:ph type="pic" sz="quarter" idx="35"/>
          </p:nvPr>
        </p:nvSpPr>
        <p:spPr>
          <a:xfrm>
            <a:off x="1796796" y="4513453"/>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26" name="Text Placeholder 11">
            <a:extLst>
              <a:ext uri="{FF2B5EF4-FFF2-40B4-BE49-F238E27FC236}">
                <a16:creationId xmlns:a16="http://schemas.microsoft.com/office/drawing/2014/main" id="{9F9A0E21-E67B-7E2F-ED16-4BABF0781083}"/>
              </a:ext>
            </a:extLst>
          </p:cNvPr>
          <p:cNvSpPr>
            <a:spLocks noGrp="1"/>
          </p:cNvSpPr>
          <p:nvPr>
            <p:ph type="body" sz="quarter" idx="26" hasCustomPrompt="1"/>
          </p:nvPr>
        </p:nvSpPr>
        <p:spPr>
          <a:xfrm>
            <a:off x="670560"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5" name="Straight Arrow Connector 44">
            <a:extLst>
              <a:ext uri="{FF2B5EF4-FFF2-40B4-BE49-F238E27FC236}">
                <a16:creationId xmlns:a16="http://schemas.microsoft.com/office/drawing/2014/main" id="{9CFE922A-6A5A-4DA8-1E44-D80852772091}"/>
              </a:ext>
              <a:ext uri="{C183D7F6-B498-43B3-948B-1728B52AA6E4}">
                <adec:decorative xmlns:adec="http://schemas.microsoft.com/office/drawing/2017/decorative" val="1"/>
              </a:ext>
            </a:extLst>
          </p:cNvPr>
          <p:cNvCxnSpPr>
            <a:cxnSpLocks/>
          </p:cNvCxnSpPr>
          <p:nvPr userDrawn="1"/>
        </p:nvCxnSpPr>
        <p:spPr>
          <a:xfrm>
            <a:off x="753404" y="5377870"/>
            <a:ext cx="1827083" cy="0"/>
          </a:xfrm>
          <a:prstGeom prst="straightConnector1">
            <a:avLst/>
          </a:prstGeom>
          <a:ln w="19050" cap="flat" cmpd="sng" algn="ctr">
            <a:gradFill>
              <a:gsLst>
                <a:gs pos="0">
                  <a:schemeClr val="accent1">
                    <a:lumMod val="75000"/>
                  </a:schemeClr>
                </a:gs>
                <a:gs pos="100000">
                  <a:schemeClr val="accent3">
                    <a:lumMod val="75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 Placeholder 11">
            <a:extLst>
              <a:ext uri="{FF2B5EF4-FFF2-40B4-BE49-F238E27FC236}">
                <a16:creationId xmlns:a16="http://schemas.microsoft.com/office/drawing/2014/main" id="{3D56C31D-5FDB-2235-FFF8-2AB6E04C9B1C}"/>
              </a:ext>
            </a:extLst>
          </p:cNvPr>
          <p:cNvSpPr>
            <a:spLocks noGrp="1"/>
          </p:cNvSpPr>
          <p:nvPr>
            <p:ph type="body" sz="quarter" idx="16" hasCustomPrompt="1"/>
          </p:nvPr>
        </p:nvSpPr>
        <p:spPr>
          <a:xfrm>
            <a:off x="2862072"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1" name="Rectangle 40">
            <a:extLst>
              <a:ext uri="{FF2B5EF4-FFF2-40B4-BE49-F238E27FC236}">
                <a16:creationId xmlns:a16="http://schemas.microsoft.com/office/drawing/2014/main" id="{481FC81D-B431-FFA6-47F5-F40C79C53D0A}"/>
              </a:ext>
              <a:ext uri="{C183D7F6-B498-43B3-948B-1728B52AA6E4}">
                <adec:decorative xmlns:adec="http://schemas.microsoft.com/office/drawing/2017/decorative" val="1"/>
              </a:ext>
            </a:extLst>
          </p:cNvPr>
          <p:cNvSpPr/>
          <p:nvPr userDrawn="1"/>
        </p:nvSpPr>
        <p:spPr>
          <a:xfrm>
            <a:off x="2946272" y="3046075"/>
            <a:ext cx="1828633" cy="96903"/>
          </a:xfrm>
          <a:prstGeom prst="rect">
            <a:avLst/>
          </a:prstGeom>
          <a:gradFill>
            <a:gsLst>
              <a:gs pos="0">
                <a:schemeClr val="accent3">
                  <a:lumMod val="60000"/>
                  <a:lumOff val="40000"/>
                </a:schemeClr>
              </a:gs>
              <a:gs pos="100000">
                <a:schemeClr val="accent2">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1" name="Text Placeholder 11">
            <a:extLst>
              <a:ext uri="{FF2B5EF4-FFF2-40B4-BE49-F238E27FC236}">
                <a16:creationId xmlns:a16="http://schemas.microsoft.com/office/drawing/2014/main" id="{B16A2860-4464-B092-801E-255A6B7DF3E4}"/>
              </a:ext>
            </a:extLst>
          </p:cNvPr>
          <p:cNvSpPr>
            <a:spLocks noGrp="1"/>
          </p:cNvSpPr>
          <p:nvPr>
            <p:ph type="body" sz="quarter" idx="21" hasCustomPrompt="1"/>
          </p:nvPr>
        </p:nvSpPr>
        <p:spPr>
          <a:xfrm>
            <a:off x="2862072"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7" name="Text Placeholder 11">
            <a:extLst>
              <a:ext uri="{FF2B5EF4-FFF2-40B4-BE49-F238E27FC236}">
                <a16:creationId xmlns:a16="http://schemas.microsoft.com/office/drawing/2014/main" id="{3B992882-DF57-9DAF-2532-06C30C2D9F16}"/>
              </a:ext>
            </a:extLst>
          </p:cNvPr>
          <p:cNvSpPr>
            <a:spLocks noGrp="1"/>
          </p:cNvSpPr>
          <p:nvPr>
            <p:ph type="body" sz="quarter" idx="27" hasCustomPrompt="1"/>
          </p:nvPr>
        </p:nvSpPr>
        <p:spPr>
          <a:xfrm>
            <a:off x="2862072" y="4505738"/>
            <a:ext cx="893064" cy="335470"/>
          </a:xfrm>
        </p:spPr>
        <p:txBody>
          <a:bodyPr lIns="91440" tIns="0">
            <a:noAutofit/>
          </a:bodyPr>
          <a:lstStyle>
            <a:lvl1pPr marL="0" indent="0">
              <a:buNone/>
              <a:defRPr sz="2000" cap="all" baseline="0">
                <a:solidFill>
                  <a:schemeClr val="accent3">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2" name="Oval 51">
            <a:extLst>
              <a:ext uri="{FF2B5EF4-FFF2-40B4-BE49-F238E27FC236}">
                <a16:creationId xmlns:a16="http://schemas.microsoft.com/office/drawing/2014/main" id="{2E63250C-AB2E-9D56-C26C-1E211DFAD534}"/>
              </a:ext>
              <a:ext uri="{C183D7F6-B498-43B3-948B-1728B52AA6E4}">
                <adec:decorative xmlns:adec="http://schemas.microsoft.com/office/drawing/2017/decorative" val="1"/>
              </a:ext>
            </a:extLst>
          </p:cNvPr>
          <p:cNvSpPr/>
          <p:nvPr userDrawn="1"/>
        </p:nvSpPr>
        <p:spPr>
          <a:xfrm>
            <a:off x="3887724" y="4399153"/>
            <a:ext cx="685800" cy="685800"/>
          </a:xfrm>
          <a:prstGeom prst="ellipse">
            <a:avLst/>
          </a:prstGeom>
          <a:noFill/>
          <a:ln w="127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Picture Placeholder 13">
            <a:extLst>
              <a:ext uri="{FF2B5EF4-FFF2-40B4-BE49-F238E27FC236}">
                <a16:creationId xmlns:a16="http://schemas.microsoft.com/office/drawing/2014/main" id="{50C6734A-2661-863D-C8B6-6A4DBC588FE4}"/>
              </a:ext>
            </a:extLst>
          </p:cNvPr>
          <p:cNvSpPr>
            <a:spLocks noGrp="1" noChangeAspect="1"/>
          </p:cNvSpPr>
          <p:nvPr>
            <p:ph type="pic" sz="quarter" idx="36"/>
          </p:nvPr>
        </p:nvSpPr>
        <p:spPr>
          <a:xfrm>
            <a:off x="4002024" y="4513453"/>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28" name="Text Placeholder 11">
            <a:extLst>
              <a:ext uri="{FF2B5EF4-FFF2-40B4-BE49-F238E27FC236}">
                <a16:creationId xmlns:a16="http://schemas.microsoft.com/office/drawing/2014/main" id="{50D7755C-4D0B-D8A7-6235-8E606B39F3AB}"/>
              </a:ext>
            </a:extLst>
          </p:cNvPr>
          <p:cNvSpPr>
            <a:spLocks noGrp="1"/>
          </p:cNvSpPr>
          <p:nvPr>
            <p:ph type="body" sz="quarter" idx="28" hasCustomPrompt="1"/>
          </p:nvPr>
        </p:nvSpPr>
        <p:spPr>
          <a:xfrm>
            <a:off x="2862072"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6" name="Straight Arrow Connector 45">
            <a:extLst>
              <a:ext uri="{FF2B5EF4-FFF2-40B4-BE49-F238E27FC236}">
                <a16:creationId xmlns:a16="http://schemas.microsoft.com/office/drawing/2014/main" id="{76330766-86D4-F436-F65D-07EF389BF5F5}"/>
              </a:ext>
              <a:ext uri="{C183D7F6-B498-43B3-948B-1728B52AA6E4}">
                <adec:decorative xmlns:adec="http://schemas.microsoft.com/office/drawing/2017/decorative" val="1"/>
              </a:ext>
            </a:extLst>
          </p:cNvPr>
          <p:cNvCxnSpPr>
            <a:cxnSpLocks/>
          </p:cNvCxnSpPr>
          <p:nvPr userDrawn="1"/>
        </p:nvCxnSpPr>
        <p:spPr>
          <a:xfrm>
            <a:off x="2943485" y="5377870"/>
            <a:ext cx="1836387" cy="0"/>
          </a:xfrm>
          <a:prstGeom prst="straightConnector1">
            <a:avLst/>
          </a:prstGeom>
          <a:ln w="19050" cap="flat" cmpd="sng" algn="ctr">
            <a:gradFill>
              <a:gsLst>
                <a:gs pos="0">
                  <a:schemeClr val="accent3">
                    <a:lumMod val="75000"/>
                  </a:schemeClr>
                </a:gs>
                <a:gs pos="100000">
                  <a:schemeClr val="accent2"/>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 Placeholder 11">
            <a:extLst>
              <a:ext uri="{FF2B5EF4-FFF2-40B4-BE49-F238E27FC236}">
                <a16:creationId xmlns:a16="http://schemas.microsoft.com/office/drawing/2014/main" id="{A540E06E-3F2B-A3DC-320A-8C968AC4350E}"/>
              </a:ext>
            </a:extLst>
          </p:cNvPr>
          <p:cNvSpPr>
            <a:spLocks noGrp="1"/>
          </p:cNvSpPr>
          <p:nvPr>
            <p:ph type="body" sz="quarter" idx="17" hasCustomPrompt="1"/>
          </p:nvPr>
        </p:nvSpPr>
        <p:spPr>
          <a:xfrm>
            <a:off x="5050536"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2" name="Rectangle 41">
            <a:extLst>
              <a:ext uri="{FF2B5EF4-FFF2-40B4-BE49-F238E27FC236}">
                <a16:creationId xmlns:a16="http://schemas.microsoft.com/office/drawing/2014/main" id="{F46BB721-1D88-1A03-1D55-5C79942C7137}"/>
              </a:ext>
              <a:ext uri="{C183D7F6-B498-43B3-948B-1728B52AA6E4}">
                <adec:decorative xmlns:adec="http://schemas.microsoft.com/office/drawing/2017/decorative" val="1"/>
              </a:ext>
            </a:extLst>
          </p:cNvPr>
          <p:cNvSpPr/>
          <p:nvPr userDrawn="1"/>
        </p:nvSpPr>
        <p:spPr>
          <a:xfrm>
            <a:off x="5139140" y="3046075"/>
            <a:ext cx="1828634" cy="96903"/>
          </a:xfrm>
          <a:prstGeom prst="rect">
            <a:avLst/>
          </a:prstGeom>
          <a:gradFill>
            <a:gsLst>
              <a:gs pos="0">
                <a:schemeClr val="accent2">
                  <a:lumMod val="60000"/>
                  <a:lumOff val="40000"/>
                </a:schemeClr>
              </a:gs>
              <a:gs pos="100000">
                <a:schemeClr val="accent5">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2" name="Text Placeholder 11">
            <a:extLst>
              <a:ext uri="{FF2B5EF4-FFF2-40B4-BE49-F238E27FC236}">
                <a16:creationId xmlns:a16="http://schemas.microsoft.com/office/drawing/2014/main" id="{51307C43-6072-93E9-BF1D-64D42AE2A524}"/>
              </a:ext>
            </a:extLst>
          </p:cNvPr>
          <p:cNvSpPr>
            <a:spLocks noGrp="1"/>
          </p:cNvSpPr>
          <p:nvPr>
            <p:ph type="body" sz="quarter" idx="22" hasCustomPrompt="1"/>
          </p:nvPr>
        </p:nvSpPr>
        <p:spPr>
          <a:xfrm>
            <a:off x="5050536"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9" name="Text Placeholder 11">
            <a:extLst>
              <a:ext uri="{FF2B5EF4-FFF2-40B4-BE49-F238E27FC236}">
                <a16:creationId xmlns:a16="http://schemas.microsoft.com/office/drawing/2014/main" id="{7CBDAD5E-0048-0813-47FC-FFE93F191C5B}"/>
              </a:ext>
            </a:extLst>
          </p:cNvPr>
          <p:cNvSpPr>
            <a:spLocks noGrp="1"/>
          </p:cNvSpPr>
          <p:nvPr>
            <p:ph type="body" sz="quarter" idx="29" hasCustomPrompt="1"/>
          </p:nvPr>
        </p:nvSpPr>
        <p:spPr>
          <a:xfrm>
            <a:off x="5065776" y="4505738"/>
            <a:ext cx="893064" cy="335470"/>
          </a:xfrm>
        </p:spPr>
        <p:txBody>
          <a:bodyPr lIns="91440" tIns="0">
            <a:noAutofit/>
          </a:bodyPr>
          <a:lstStyle>
            <a:lvl1pPr marL="0" indent="0">
              <a:buNone/>
              <a:defRPr sz="2000" cap="all" baseline="0">
                <a:solidFill>
                  <a:schemeClr val="accent2">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4" name="Oval 53">
            <a:extLst>
              <a:ext uri="{FF2B5EF4-FFF2-40B4-BE49-F238E27FC236}">
                <a16:creationId xmlns:a16="http://schemas.microsoft.com/office/drawing/2014/main" id="{60D4CBD1-AAC9-3F04-3F49-E8579F6F7ABE}"/>
              </a:ext>
              <a:ext uri="{C183D7F6-B498-43B3-948B-1728B52AA6E4}">
                <adec:decorative xmlns:adec="http://schemas.microsoft.com/office/drawing/2017/decorative" val="1"/>
              </a:ext>
            </a:extLst>
          </p:cNvPr>
          <p:cNvSpPr/>
          <p:nvPr userDrawn="1"/>
        </p:nvSpPr>
        <p:spPr>
          <a:xfrm>
            <a:off x="6092952" y="4402872"/>
            <a:ext cx="685800" cy="685800"/>
          </a:xfrm>
          <a:prstGeom prst="ellipse">
            <a:avLst/>
          </a:prstGeom>
          <a:noFill/>
          <a:ln w="127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Picture Placeholder 13">
            <a:extLst>
              <a:ext uri="{FF2B5EF4-FFF2-40B4-BE49-F238E27FC236}">
                <a16:creationId xmlns:a16="http://schemas.microsoft.com/office/drawing/2014/main" id="{F154717D-74D1-298B-EF00-6CCA65AA969B}"/>
              </a:ext>
            </a:extLst>
          </p:cNvPr>
          <p:cNvSpPr>
            <a:spLocks noGrp="1" noChangeAspect="1"/>
          </p:cNvSpPr>
          <p:nvPr>
            <p:ph type="pic" sz="quarter" idx="37"/>
          </p:nvPr>
        </p:nvSpPr>
        <p:spPr>
          <a:xfrm>
            <a:off x="6207252" y="4517172"/>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30" name="Text Placeholder 11">
            <a:extLst>
              <a:ext uri="{FF2B5EF4-FFF2-40B4-BE49-F238E27FC236}">
                <a16:creationId xmlns:a16="http://schemas.microsoft.com/office/drawing/2014/main" id="{3A23A057-C011-EB28-4869-A73F2E3B3394}"/>
              </a:ext>
            </a:extLst>
          </p:cNvPr>
          <p:cNvSpPr>
            <a:spLocks noGrp="1"/>
          </p:cNvSpPr>
          <p:nvPr>
            <p:ph type="body" sz="quarter" idx="30" hasCustomPrompt="1"/>
          </p:nvPr>
        </p:nvSpPr>
        <p:spPr>
          <a:xfrm>
            <a:off x="5065776"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7" name="Straight Arrow Connector 46">
            <a:extLst>
              <a:ext uri="{FF2B5EF4-FFF2-40B4-BE49-F238E27FC236}">
                <a16:creationId xmlns:a16="http://schemas.microsoft.com/office/drawing/2014/main" id="{EF51B736-1CC5-842A-AFEB-68B18931713C}"/>
              </a:ext>
              <a:ext uri="{C183D7F6-B498-43B3-948B-1728B52AA6E4}">
                <adec:decorative xmlns:adec="http://schemas.microsoft.com/office/drawing/2017/decorative" val="1"/>
              </a:ext>
            </a:extLst>
          </p:cNvPr>
          <p:cNvCxnSpPr>
            <a:cxnSpLocks/>
          </p:cNvCxnSpPr>
          <p:nvPr userDrawn="1"/>
        </p:nvCxnSpPr>
        <p:spPr>
          <a:xfrm>
            <a:off x="5142870" y="5377870"/>
            <a:ext cx="1827639" cy="0"/>
          </a:xfrm>
          <a:prstGeom prst="straightConnector1">
            <a:avLst/>
          </a:prstGeom>
          <a:ln w="19050" cap="flat" cmpd="sng" algn="ctr">
            <a:gradFill>
              <a:gsLst>
                <a:gs pos="0">
                  <a:schemeClr val="accent2"/>
                </a:gs>
                <a:gs pos="100000">
                  <a:schemeClr val="accent5">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Text Placeholder 11">
            <a:extLst>
              <a:ext uri="{FF2B5EF4-FFF2-40B4-BE49-F238E27FC236}">
                <a16:creationId xmlns:a16="http://schemas.microsoft.com/office/drawing/2014/main" id="{716EA8F4-B9C4-991F-0EBC-D79877AD4680}"/>
              </a:ext>
            </a:extLst>
          </p:cNvPr>
          <p:cNvSpPr>
            <a:spLocks noGrp="1"/>
          </p:cNvSpPr>
          <p:nvPr>
            <p:ph type="body" sz="quarter" idx="18" hasCustomPrompt="1"/>
          </p:nvPr>
        </p:nvSpPr>
        <p:spPr>
          <a:xfrm>
            <a:off x="7239000"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3" name="Rectangle 42">
            <a:extLst>
              <a:ext uri="{FF2B5EF4-FFF2-40B4-BE49-F238E27FC236}">
                <a16:creationId xmlns:a16="http://schemas.microsoft.com/office/drawing/2014/main" id="{3B68F5A8-E314-7C7A-6CB2-3036DF2A8EFC}"/>
              </a:ext>
              <a:ext uri="{C183D7F6-B498-43B3-948B-1728B52AA6E4}">
                <adec:decorative xmlns:adec="http://schemas.microsoft.com/office/drawing/2017/decorative" val="1"/>
              </a:ext>
            </a:extLst>
          </p:cNvPr>
          <p:cNvSpPr/>
          <p:nvPr userDrawn="1"/>
        </p:nvSpPr>
        <p:spPr>
          <a:xfrm>
            <a:off x="7332009" y="3046075"/>
            <a:ext cx="1828635" cy="96903"/>
          </a:xfrm>
          <a:prstGeom prst="rect">
            <a:avLst/>
          </a:prstGeom>
          <a:gradFill>
            <a:gsLst>
              <a:gs pos="0">
                <a:schemeClr val="accent5">
                  <a:lumMod val="60000"/>
                  <a:lumOff val="40000"/>
                </a:schemeClr>
              </a:gs>
              <a:gs pos="100000">
                <a:schemeClr val="accent6">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3" name="Text Placeholder 11">
            <a:extLst>
              <a:ext uri="{FF2B5EF4-FFF2-40B4-BE49-F238E27FC236}">
                <a16:creationId xmlns:a16="http://schemas.microsoft.com/office/drawing/2014/main" id="{5A57C80F-4C30-26E1-B38B-3D7238EC9A49}"/>
              </a:ext>
            </a:extLst>
          </p:cNvPr>
          <p:cNvSpPr>
            <a:spLocks noGrp="1"/>
          </p:cNvSpPr>
          <p:nvPr>
            <p:ph type="body" sz="quarter" idx="23" hasCustomPrompt="1"/>
          </p:nvPr>
        </p:nvSpPr>
        <p:spPr>
          <a:xfrm>
            <a:off x="7239000"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1" name="Text Placeholder 11">
            <a:extLst>
              <a:ext uri="{FF2B5EF4-FFF2-40B4-BE49-F238E27FC236}">
                <a16:creationId xmlns:a16="http://schemas.microsoft.com/office/drawing/2014/main" id="{A44BB5F0-6856-4711-058C-73C1CBF4646B}"/>
              </a:ext>
            </a:extLst>
          </p:cNvPr>
          <p:cNvSpPr>
            <a:spLocks noGrp="1"/>
          </p:cNvSpPr>
          <p:nvPr>
            <p:ph type="body" sz="quarter" idx="31" hasCustomPrompt="1"/>
          </p:nvPr>
        </p:nvSpPr>
        <p:spPr>
          <a:xfrm>
            <a:off x="7257288" y="4505738"/>
            <a:ext cx="893064" cy="335470"/>
          </a:xfrm>
        </p:spPr>
        <p:txBody>
          <a:bodyPr lIns="91440" tIns="0">
            <a:noAutofit/>
          </a:bodyPr>
          <a:lstStyle>
            <a:lvl1pPr marL="0" indent="0">
              <a:buNone/>
              <a:defRPr sz="2000" cap="all" baseline="0">
                <a:solidFill>
                  <a:schemeClr val="accent5">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6" name="Oval 55">
            <a:extLst>
              <a:ext uri="{FF2B5EF4-FFF2-40B4-BE49-F238E27FC236}">
                <a16:creationId xmlns:a16="http://schemas.microsoft.com/office/drawing/2014/main" id="{1EF56C89-6D7E-4196-72BF-23ACEE823C0C}"/>
              </a:ext>
              <a:ext uri="{C183D7F6-B498-43B3-948B-1728B52AA6E4}">
                <adec:decorative xmlns:adec="http://schemas.microsoft.com/office/drawing/2017/decorative" val="1"/>
              </a:ext>
            </a:extLst>
          </p:cNvPr>
          <p:cNvSpPr/>
          <p:nvPr userDrawn="1"/>
        </p:nvSpPr>
        <p:spPr>
          <a:xfrm>
            <a:off x="8298180" y="4402872"/>
            <a:ext cx="685800" cy="685800"/>
          </a:xfrm>
          <a:prstGeom prst="ellipse">
            <a:avLst/>
          </a:prstGeom>
          <a:noFill/>
          <a:ln w="127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Picture Placeholder 13">
            <a:extLst>
              <a:ext uri="{FF2B5EF4-FFF2-40B4-BE49-F238E27FC236}">
                <a16:creationId xmlns:a16="http://schemas.microsoft.com/office/drawing/2014/main" id="{719C23E4-DE06-6FF4-1BC9-5305DE50D817}"/>
              </a:ext>
            </a:extLst>
          </p:cNvPr>
          <p:cNvSpPr>
            <a:spLocks noGrp="1" noChangeAspect="1"/>
          </p:cNvSpPr>
          <p:nvPr>
            <p:ph type="pic" sz="quarter" idx="38"/>
          </p:nvPr>
        </p:nvSpPr>
        <p:spPr>
          <a:xfrm>
            <a:off x="8412480" y="4517172"/>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32" name="Text Placeholder 11">
            <a:extLst>
              <a:ext uri="{FF2B5EF4-FFF2-40B4-BE49-F238E27FC236}">
                <a16:creationId xmlns:a16="http://schemas.microsoft.com/office/drawing/2014/main" id="{F5A3DA8B-D38B-3994-FE85-0A331FBADADA}"/>
              </a:ext>
            </a:extLst>
          </p:cNvPr>
          <p:cNvSpPr>
            <a:spLocks noGrp="1"/>
          </p:cNvSpPr>
          <p:nvPr>
            <p:ph type="body" sz="quarter" idx="32" hasCustomPrompt="1"/>
          </p:nvPr>
        </p:nvSpPr>
        <p:spPr>
          <a:xfrm>
            <a:off x="7257288"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8" name="Straight Arrow Connector 47">
            <a:extLst>
              <a:ext uri="{FF2B5EF4-FFF2-40B4-BE49-F238E27FC236}">
                <a16:creationId xmlns:a16="http://schemas.microsoft.com/office/drawing/2014/main" id="{A771B152-C165-EE9A-CF25-69B01D93984C}"/>
              </a:ext>
              <a:ext uri="{C183D7F6-B498-43B3-948B-1728B52AA6E4}">
                <adec:decorative xmlns:adec="http://schemas.microsoft.com/office/drawing/2017/decorative" val="1"/>
              </a:ext>
            </a:extLst>
          </p:cNvPr>
          <p:cNvCxnSpPr>
            <a:cxnSpLocks/>
          </p:cNvCxnSpPr>
          <p:nvPr userDrawn="1"/>
        </p:nvCxnSpPr>
        <p:spPr>
          <a:xfrm>
            <a:off x="7333507" y="5377870"/>
            <a:ext cx="1828375" cy="0"/>
          </a:xfrm>
          <a:prstGeom prst="straightConnector1">
            <a:avLst/>
          </a:prstGeom>
          <a:ln w="19050" cap="flat" cmpd="sng" algn="ctr">
            <a:gradFill>
              <a:gsLst>
                <a:gs pos="0">
                  <a:schemeClr val="accent5">
                    <a:lumMod val="60000"/>
                    <a:lumOff val="40000"/>
                  </a:schemeClr>
                </a:gs>
                <a:gs pos="100000">
                  <a:schemeClr val="accent6"/>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Text Placeholder 11">
            <a:extLst>
              <a:ext uri="{FF2B5EF4-FFF2-40B4-BE49-F238E27FC236}">
                <a16:creationId xmlns:a16="http://schemas.microsoft.com/office/drawing/2014/main" id="{D3896BC4-3EFC-36C4-6071-4BF0E987F965}"/>
              </a:ext>
            </a:extLst>
          </p:cNvPr>
          <p:cNvSpPr>
            <a:spLocks noGrp="1"/>
          </p:cNvSpPr>
          <p:nvPr>
            <p:ph type="body" sz="quarter" idx="19" hasCustomPrompt="1"/>
          </p:nvPr>
        </p:nvSpPr>
        <p:spPr>
          <a:xfrm>
            <a:off x="9427464" y="2556796"/>
            <a:ext cx="1996440" cy="381190"/>
          </a:xfrm>
        </p:spPr>
        <p:txBody>
          <a:bodyPr lIns="91440" tIns="0">
            <a:noAutofit/>
          </a:bodyPr>
          <a:lstStyle>
            <a:lvl1pPr marL="0" indent="0">
              <a:buNone/>
              <a:defRPr sz="2200" b="1" cap="all" spc="100" baseline="0">
                <a:solidFill>
                  <a:schemeClr val="bg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4" name="Rectangle 43">
            <a:extLst>
              <a:ext uri="{FF2B5EF4-FFF2-40B4-BE49-F238E27FC236}">
                <a16:creationId xmlns:a16="http://schemas.microsoft.com/office/drawing/2014/main" id="{B6236E29-4894-FD6C-E56F-5B1CBA99A5AC}"/>
              </a:ext>
              <a:ext uri="{C183D7F6-B498-43B3-948B-1728B52AA6E4}">
                <adec:decorative xmlns:adec="http://schemas.microsoft.com/office/drawing/2017/decorative" val="1"/>
              </a:ext>
            </a:extLst>
          </p:cNvPr>
          <p:cNvSpPr/>
          <p:nvPr userDrawn="1"/>
        </p:nvSpPr>
        <p:spPr>
          <a:xfrm>
            <a:off x="9524879" y="3046075"/>
            <a:ext cx="1828635" cy="96903"/>
          </a:xfrm>
          <a:prstGeom prst="rect">
            <a:avLst/>
          </a:prstGeom>
          <a:gradFill>
            <a:gsLst>
              <a:gs pos="0">
                <a:schemeClr val="accent6">
                  <a:lumMod val="60000"/>
                  <a:lumOff val="40000"/>
                </a:schemeClr>
              </a:gs>
              <a:gs pos="100000">
                <a:schemeClr val="accent6">
                  <a:lumMod val="40000"/>
                  <a:lumOff val="6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4" name="Text Placeholder 11">
            <a:extLst>
              <a:ext uri="{FF2B5EF4-FFF2-40B4-BE49-F238E27FC236}">
                <a16:creationId xmlns:a16="http://schemas.microsoft.com/office/drawing/2014/main" id="{4C2DA584-D9BC-7A01-6F48-363C7F6465E3}"/>
              </a:ext>
            </a:extLst>
          </p:cNvPr>
          <p:cNvSpPr>
            <a:spLocks noGrp="1"/>
          </p:cNvSpPr>
          <p:nvPr>
            <p:ph type="body" sz="quarter" idx="24" hasCustomPrompt="1"/>
          </p:nvPr>
        </p:nvSpPr>
        <p:spPr>
          <a:xfrm>
            <a:off x="9427464" y="3391012"/>
            <a:ext cx="1996440" cy="778652"/>
          </a:xfrm>
        </p:spPr>
        <p:txBody>
          <a:bodyPr lIns="91440" tIns="0">
            <a:noAutofit/>
          </a:bodyPr>
          <a:lstStyle>
            <a:lvl1pPr marL="0" indent="0">
              <a:buNone/>
              <a:defRPr sz="12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3" name="Text Placeholder 11">
            <a:extLst>
              <a:ext uri="{FF2B5EF4-FFF2-40B4-BE49-F238E27FC236}">
                <a16:creationId xmlns:a16="http://schemas.microsoft.com/office/drawing/2014/main" id="{70C95BBB-511F-F8F5-EF37-C6109C4AF4E0}"/>
              </a:ext>
            </a:extLst>
          </p:cNvPr>
          <p:cNvSpPr>
            <a:spLocks noGrp="1"/>
          </p:cNvSpPr>
          <p:nvPr>
            <p:ph type="body" sz="quarter" idx="33" hasCustomPrompt="1"/>
          </p:nvPr>
        </p:nvSpPr>
        <p:spPr>
          <a:xfrm>
            <a:off x="9448800" y="4505738"/>
            <a:ext cx="893064" cy="335470"/>
          </a:xfrm>
        </p:spPr>
        <p:txBody>
          <a:bodyPr lIns="91440" tIns="0">
            <a:noAutofit/>
          </a:bodyPr>
          <a:lstStyle>
            <a:lvl1pPr marL="0" indent="0">
              <a:buNone/>
              <a:defRPr sz="2000" cap="all" baseline="0">
                <a:solidFill>
                  <a:schemeClr val="accent6">
                    <a:lumMod val="40000"/>
                    <a:lumOff val="60000"/>
                  </a:schemeClr>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8" name="Oval 57">
            <a:extLst>
              <a:ext uri="{FF2B5EF4-FFF2-40B4-BE49-F238E27FC236}">
                <a16:creationId xmlns:a16="http://schemas.microsoft.com/office/drawing/2014/main" id="{D0EDAC9C-0C6E-2807-24D5-3E04B5E2109B}"/>
              </a:ext>
              <a:ext uri="{C183D7F6-B498-43B3-948B-1728B52AA6E4}">
                <adec:decorative xmlns:adec="http://schemas.microsoft.com/office/drawing/2017/decorative" val="1"/>
              </a:ext>
            </a:extLst>
          </p:cNvPr>
          <p:cNvSpPr/>
          <p:nvPr userDrawn="1"/>
        </p:nvSpPr>
        <p:spPr>
          <a:xfrm>
            <a:off x="10484738" y="4399153"/>
            <a:ext cx="685800" cy="685800"/>
          </a:xfrm>
          <a:prstGeom prst="ellipse">
            <a:avLst/>
          </a:prstGeom>
          <a:noFill/>
          <a:ln w="127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Picture Placeholder 13">
            <a:extLst>
              <a:ext uri="{FF2B5EF4-FFF2-40B4-BE49-F238E27FC236}">
                <a16:creationId xmlns:a16="http://schemas.microsoft.com/office/drawing/2014/main" id="{B1C0F0FD-844D-CC54-986F-B8522F12B0A5}"/>
              </a:ext>
            </a:extLst>
          </p:cNvPr>
          <p:cNvSpPr>
            <a:spLocks noGrp="1" noChangeAspect="1"/>
          </p:cNvSpPr>
          <p:nvPr>
            <p:ph type="pic" sz="quarter" idx="39"/>
          </p:nvPr>
        </p:nvSpPr>
        <p:spPr>
          <a:xfrm>
            <a:off x="10599038" y="4513453"/>
            <a:ext cx="457200" cy="457200"/>
          </a:xfrm>
          <a:prstGeom prst="ellipse">
            <a:avLst/>
          </a:prstGeom>
          <a:ln w="19050">
            <a:noFill/>
          </a:ln>
        </p:spPr>
        <p:txBody>
          <a:bodyPr lIns="0" tIns="0" rIns="0" bIns="0">
            <a:normAutofit/>
          </a:bodyPr>
          <a:lstStyle>
            <a:lvl1pPr marL="0" indent="0" algn="ctr">
              <a:buNone/>
              <a:defRPr sz="600">
                <a:solidFill>
                  <a:schemeClr val="bg1"/>
                </a:solidFill>
              </a:defRPr>
            </a:lvl1pPr>
          </a:lstStyle>
          <a:p>
            <a:r>
              <a:rPr lang="en-US"/>
              <a:t>Click icon to add picture</a:t>
            </a:r>
            <a:endParaRPr lang="en-US" dirty="0"/>
          </a:p>
        </p:txBody>
      </p:sp>
      <p:sp>
        <p:nvSpPr>
          <p:cNvPr id="34" name="Text Placeholder 11">
            <a:extLst>
              <a:ext uri="{FF2B5EF4-FFF2-40B4-BE49-F238E27FC236}">
                <a16:creationId xmlns:a16="http://schemas.microsoft.com/office/drawing/2014/main" id="{A00816D8-6779-7BDB-52AB-5BD0A2479E4C}"/>
              </a:ext>
            </a:extLst>
          </p:cNvPr>
          <p:cNvSpPr>
            <a:spLocks noGrp="1"/>
          </p:cNvSpPr>
          <p:nvPr>
            <p:ph type="body" sz="quarter" idx="34" hasCustomPrompt="1"/>
          </p:nvPr>
        </p:nvSpPr>
        <p:spPr>
          <a:xfrm>
            <a:off x="9448800" y="4894756"/>
            <a:ext cx="893064" cy="335470"/>
          </a:xfrm>
        </p:spPr>
        <p:txBody>
          <a:bodyPr lIns="91440" tIns="0">
            <a:noAutofit/>
          </a:bodyPr>
          <a:lstStyle>
            <a:lvl1pPr marL="0" indent="0">
              <a:buNone/>
              <a:defRPr sz="14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9" name="Straight Arrow Connector 48">
            <a:extLst>
              <a:ext uri="{FF2B5EF4-FFF2-40B4-BE49-F238E27FC236}">
                <a16:creationId xmlns:a16="http://schemas.microsoft.com/office/drawing/2014/main" id="{D6506AFF-E40E-308E-7907-FBFC4DAAB885}"/>
              </a:ext>
              <a:ext uri="{C183D7F6-B498-43B3-948B-1728B52AA6E4}">
                <adec:decorative xmlns:adec="http://schemas.microsoft.com/office/drawing/2017/decorative" val="1"/>
              </a:ext>
            </a:extLst>
          </p:cNvPr>
          <p:cNvCxnSpPr>
            <a:cxnSpLocks/>
          </p:cNvCxnSpPr>
          <p:nvPr userDrawn="1"/>
        </p:nvCxnSpPr>
        <p:spPr>
          <a:xfrm>
            <a:off x="9524879" y="5376344"/>
            <a:ext cx="1828635" cy="3053"/>
          </a:xfrm>
          <a:prstGeom prst="straightConnector1">
            <a:avLst/>
          </a:prstGeom>
          <a:ln w="19050" cap="flat" cmpd="sng" algn="ctr">
            <a:gradFill>
              <a:gsLst>
                <a:gs pos="0">
                  <a:schemeClr val="accent6"/>
                </a:gs>
                <a:gs pos="100000">
                  <a:schemeClr val="accent6">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Footer Placeholder 4">
            <a:extLst>
              <a:ext uri="{FF2B5EF4-FFF2-40B4-BE49-F238E27FC236}">
                <a16:creationId xmlns:a16="http://schemas.microsoft.com/office/drawing/2014/main" id="{F80A11DE-725C-8DE4-9A24-3718A3D143CD}"/>
              </a:ext>
            </a:extLst>
          </p:cNvPr>
          <p:cNvSpPr>
            <a:spLocks noGrp="1"/>
          </p:cNvSpPr>
          <p:nvPr>
            <p:ph type="ftr" sz="quarter" idx="11"/>
          </p:nvPr>
        </p:nvSpPr>
        <p:spPr>
          <a:xfrm>
            <a:off x="670560" y="6072886"/>
            <a:ext cx="4114800" cy="365125"/>
          </a:xfrm>
          <a:prstGeom prst="rect">
            <a:avLst/>
          </a:prstGeom>
        </p:spPr>
        <p:txBody>
          <a:bodyPr/>
          <a:lstStyle>
            <a:lvl1pPr algn="l">
              <a:defRPr sz="1000" cap="all" baseline="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EC6D8153-A9C6-7A32-CDB7-BF9D7CB1ACD3}"/>
              </a:ext>
            </a:extLst>
          </p:cNvPr>
          <p:cNvSpPr>
            <a:spLocks noGrp="1"/>
          </p:cNvSpPr>
          <p:nvPr>
            <p:ph type="sldNum" sz="quarter" idx="12"/>
          </p:nvPr>
        </p:nvSpPr>
        <p:spPr>
          <a:xfrm>
            <a:off x="8738616" y="6072886"/>
            <a:ext cx="2743200" cy="365125"/>
          </a:xfrm>
          <a:prstGeom prst="rect">
            <a:avLst/>
          </a:prstGeom>
        </p:spPr>
        <p:txBody>
          <a:bodyPr/>
          <a:lstStyle>
            <a:lvl1pPr>
              <a:defRPr sz="1000">
                <a:solidFill>
                  <a:schemeClr val="bg1"/>
                </a:solidFill>
              </a:defRPr>
            </a:lvl1pPr>
          </a:lstStyle>
          <a:p>
            <a:r>
              <a:rPr lang="en-US" dirty="0"/>
              <a:t>0</a:t>
            </a:r>
            <a:fld id="{E6B975A5-EA91-314B-AF62-F6E264554D2F}" type="slidenum">
              <a:rPr lang="en-US" smtClean="0"/>
              <a:pPr/>
              <a:t>‹#›</a:t>
            </a:fld>
            <a:endParaRPr lang="en-US" dirty="0"/>
          </a:p>
        </p:txBody>
      </p:sp>
    </p:spTree>
    <p:extLst>
      <p:ext uri="{BB962C8B-B14F-4D97-AF65-F5344CB8AC3E}">
        <p14:creationId xmlns:p14="http://schemas.microsoft.com/office/powerpoint/2010/main" val="141820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meline Light">
    <p:bg>
      <p:bgPr>
        <a:solidFill>
          <a:schemeClr val="bg1">
            <a:lumMod val="95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39F7D1-31ED-4588-7F6B-7214367FBA9F}"/>
              </a:ext>
            </a:extLst>
          </p:cNvPr>
          <p:cNvSpPr>
            <a:spLocks noGrp="1"/>
          </p:cNvSpPr>
          <p:nvPr>
            <p:ph type="title" hasCustomPrompt="1"/>
          </p:nvPr>
        </p:nvSpPr>
        <p:spPr>
          <a:xfrm>
            <a:off x="618744" y="209677"/>
            <a:ext cx="9064752" cy="1097915"/>
          </a:xfrm>
          <a:noFill/>
        </p:spPr>
        <p:txBody>
          <a:bodyPr anchor="b">
            <a:normAutofit/>
          </a:bodyPr>
          <a:lstStyle>
            <a:lvl1pPr>
              <a:defRPr sz="5400">
                <a:solidFill>
                  <a:schemeClr val="tx1"/>
                </a:solidFill>
                <a:latin typeface="+mn-lt"/>
              </a:defRPr>
            </a:lvl1pPr>
          </a:lstStyle>
          <a:p>
            <a:r>
              <a:rPr lang="en-US" dirty="0"/>
              <a:t>Click to add title</a:t>
            </a:r>
          </a:p>
        </p:txBody>
      </p:sp>
      <p:sp>
        <p:nvSpPr>
          <p:cNvPr id="12" name="Text Placeholder 11">
            <a:extLst>
              <a:ext uri="{FF2B5EF4-FFF2-40B4-BE49-F238E27FC236}">
                <a16:creationId xmlns:a16="http://schemas.microsoft.com/office/drawing/2014/main" id="{413A1C6A-339B-343A-B0AD-F761FE910519}"/>
              </a:ext>
            </a:extLst>
          </p:cNvPr>
          <p:cNvSpPr>
            <a:spLocks noGrp="1"/>
          </p:cNvSpPr>
          <p:nvPr>
            <p:ph type="body" sz="quarter" idx="13" hasCustomPrompt="1"/>
          </p:nvPr>
        </p:nvSpPr>
        <p:spPr>
          <a:xfrm>
            <a:off x="618745" y="1344676"/>
            <a:ext cx="9064752" cy="511175"/>
          </a:xfrm>
        </p:spPr>
        <p:txBody>
          <a:bodyPr lIns="164592" tIns="0">
            <a:noAutofit/>
          </a:bodyPr>
          <a:lstStyle>
            <a:lvl1pPr marL="0" indent="0">
              <a:buNone/>
              <a:defRPr sz="1800">
                <a:solidFill>
                  <a:schemeClr val="tx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50" name="Oval 49">
            <a:extLst>
              <a:ext uri="{FF2B5EF4-FFF2-40B4-BE49-F238E27FC236}">
                <a16:creationId xmlns:a16="http://schemas.microsoft.com/office/drawing/2014/main" id="{535829F9-B704-5645-ABE3-F98170E89B44}"/>
              </a:ext>
              <a:ext uri="{C183D7F6-B498-43B3-948B-1728B52AA6E4}">
                <adec:decorative xmlns:adec="http://schemas.microsoft.com/office/drawing/2017/decorative" val="1"/>
              </a:ext>
            </a:extLst>
          </p:cNvPr>
          <p:cNvSpPr/>
          <p:nvPr userDrawn="1"/>
        </p:nvSpPr>
        <p:spPr>
          <a:xfrm>
            <a:off x="10396346" y="585334"/>
            <a:ext cx="1005840" cy="1005840"/>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13">
            <a:extLst>
              <a:ext uri="{FF2B5EF4-FFF2-40B4-BE49-F238E27FC236}">
                <a16:creationId xmlns:a16="http://schemas.microsoft.com/office/drawing/2014/main" id="{5807DD9B-8716-9B22-9F91-88E6071F91D3}"/>
              </a:ext>
            </a:extLst>
          </p:cNvPr>
          <p:cNvSpPr>
            <a:spLocks noGrp="1" noChangeAspect="1"/>
          </p:cNvSpPr>
          <p:nvPr>
            <p:ph type="pic" sz="quarter" idx="14"/>
          </p:nvPr>
        </p:nvSpPr>
        <p:spPr>
          <a:xfrm>
            <a:off x="10487786" y="649342"/>
            <a:ext cx="822960" cy="822960"/>
          </a:xfrm>
          <a:prstGeom prst="ellipse">
            <a:avLst/>
          </a:prstGeom>
          <a:ln w="22225">
            <a:noFill/>
          </a:ln>
        </p:spPr>
        <p:txBody>
          <a:bodyPr lIns="0" tIns="0" rIns="0" bIns="0">
            <a:normAutofit/>
          </a:bodyPr>
          <a:lstStyle>
            <a:lvl1pPr marL="0" indent="0" algn="ctr">
              <a:buNone/>
              <a:defRPr sz="1000">
                <a:solidFill>
                  <a:schemeClr val="tx1"/>
                </a:solidFill>
              </a:defRPr>
            </a:lvl1pPr>
          </a:lstStyle>
          <a:p>
            <a:r>
              <a:rPr lang="en-US"/>
              <a:t>Click icon to add picture</a:t>
            </a:r>
            <a:endParaRPr lang="en-US" dirty="0"/>
          </a:p>
        </p:txBody>
      </p:sp>
      <p:sp>
        <p:nvSpPr>
          <p:cNvPr id="15" name="Text Placeholder 11">
            <a:extLst>
              <a:ext uri="{FF2B5EF4-FFF2-40B4-BE49-F238E27FC236}">
                <a16:creationId xmlns:a16="http://schemas.microsoft.com/office/drawing/2014/main" id="{3465C986-E3D2-97E7-9111-0299F9C3B1D2}"/>
              </a:ext>
            </a:extLst>
          </p:cNvPr>
          <p:cNvSpPr>
            <a:spLocks noGrp="1"/>
          </p:cNvSpPr>
          <p:nvPr>
            <p:ph type="body" sz="quarter" idx="15" hasCustomPrompt="1"/>
          </p:nvPr>
        </p:nvSpPr>
        <p:spPr>
          <a:xfrm>
            <a:off x="673608"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0" name="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753404" y="3046075"/>
            <a:ext cx="1828633" cy="96903"/>
          </a:xfrm>
          <a:prstGeom prst="rect">
            <a:avLst/>
          </a:prstGeom>
          <a:gradFill>
            <a:gsLst>
              <a:gs pos="0">
                <a:schemeClr val="accent1">
                  <a:lumMod val="60000"/>
                  <a:lumOff val="40000"/>
                </a:schemeClr>
              </a:gs>
              <a:gs pos="100000">
                <a:schemeClr val="accent3">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673608"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5" name="Text Placeholder 11">
            <a:extLst>
              <a:ext uri="{FF2B5EF4-FFF2-40B4-BE49-F238E27FC236}">
                <a16:creationId xmlns:a16="http://schemas.microsoft.com/office/drawing/2014/main" id="{70FD3BFF-C0B9-AA50-A3D6-B4A48EEF7513}"/>
              </a:ext>
            </a:extLst>
          </p:cNvPr>
          <p:cNvSpPr>
            <a:spLocks noGrp="1"/>
          </p:cNvSpPr>
          <p:nvPr>
            <p:ph type="body" sz="quarter" idx="25" hasCustomPrompt="1"/>
          </p:nvPr>
        </p:nvSpPr>
        <p:spPr>
          <a:xfrm>
            <a:off x="670560"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1" name="Oval 50">
            <a:extLst>
              <a:ext uri="{FF2B5EF4-FFF2-40B4-BE49-F238E27FC236}">
                <a16:creationId xmlns:a16="http://schemas.microsoft.com/office/drawing/2014/main" id="{EBEE5563-8FF1-7479-E11E-F0144D7533D8}"/>
              </a:ext>
              <a:ext uri="{C183D7F6-B498-43B3-948B-1728B52AA6E4}">
                <adec:decorative xmlns:adec="http://schemas.microsoft.com/office/drawing/2017/decorative" val="1"/>
              </a:ext>
            </a:extLst>
          </p:cNvPr>
          <p:cNvSpPr/>
          <p:nvPr userDrawn="1"/>
        </p:nvSpPr>
        <p:spPr>
          <a:xfrm>
            <a:off x="1682496" y="4399153"/>
            <a:ext cx="685800" cy="685800"/>
          </a:xfrm>
          <a:prstGeom prst="ellipse">
            <a:avLst/>
          </a:prstGeom>
          <a:noFill/>
          <a:ln w="127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13">
            <a:extLst>
              <a:ext uri="{FF2B5EF4-FFF2-40B4-BE49-F238E27FC236}">
                <a16:creationId xmlns:a16="http://schemas.microsoft.com/office/drawing/2014/main" id="{A69C1816-EC8E-961C-AC21-6D86E9C455A1}"/>
              </a:ext>
            </a:extLst>
          </p:cNvPr>
          <p:cNvSpPr>
            <a:spLocks noGrp="1" noChangeAspect="1"/>
          </p:cNvSpPr>
          <p:nvPr>
            <p:ph type="pic" sz="quarter" idx="35"/>
          </p:nvPr>
        </p:nvSpPr>
        <p:spPr>
          <a:xfrm>
            <a:off x="1796796" y="4513453"/>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26" name="Text Placeholder 11">
            <a:extLst>
              <a:ext uri="{FF2B5EF4-FFF2-40B4-BE49-F238E27FC236}">
                <a16:creationId xmlns:a16="http://schemas.microsoft.com/office/drawing/2014/main" id="{9F9A0E21-E67B-7E2F-ED16-4BABF0781083}"/>
              </a:ext>
            </a:extLst>
          </p:cNvPr>
          <p:cNvSpPr>
            <a:spLocks noGrp="1"/>
          </p:cNvSpPr>
          <p:nvPr>
            <p:ph type="body" sz="quarter" idx="26" hasCustomPrompt="1"/>
          </p:nvPr>
        </p:nvSpPr>
        <p:spPr>
          <a:xfrm>
            <a:off x="670560"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5" name="Straight Arrow Connector 44">
            <a:extLst>
              <a:ext uri="{FF2B5EF4-FFF2-40B4-BE49-F238E27FC236}">
                <a16:creationId xmlns:a16="http://schemas.microsoft.com/office/drawing/2014/main" id="{9CFE922A-6A5A-4DA8-1E44-D80852772091}"/>
              </a:ext>
              <a:ext uri="{C183D7F6-B498-43B3-948B-1728B52AA6E4}">
                <adec:decorative xmlns:adec="http://schemas.microsoft.com/office/drawing/2017/decorative" val="1"/>
              </a:ext>
            </a:extLst>
          </p:cNvPr>
          <p:cNvCxnSpPr>
            <a:cxnSpLocks/>
          </p:cNvCxnSpPr>
          <p:nvPr userDrawn="1"/>
        </p:nvCxnSpPr>
        <p:spPr>
          <a:xfrm>
            <a:off x="753404" y="5377870"/>
            <a:ext cx="1827083" cy="0"/>
          </a:xfrm>
          <a:prstGeom prst="straightConnector1">
            <a:avLst/>
          </a:prstGeom>
          <a:ln w="19050" cap="flat" cmpd="sng" algn="ctr">
            <a:gradFill>
              <a:gsLst>
                <a:gs pos="0">
                  <a:schemeClr val="accent1">
                    <a:lumMod val="75000"/>
                  </a:schemeClr>
                </a:gs>
                <a:gs pos="100000">
                  <a:schemeClr val="accent3">
                    <a:lumMod val="75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 Placeholder 11">
            <a:extLst>
              <a:ext uri="{FF2B5EF4-FFF2-40B4-BE49-F238E27FC236}">
                <a16:creationId xmlns:a16="http://schemas.microsoft.com/office/drawing/2014/main" id="{3D56C31D-5FDB-2235-FFF8-2AB6E04C9B1C}"/>
              </a:ext>
            </a:extLst>
          </p:cNvPr>
          <p:cNvSpPr>
            <a:spLocks noGrp="1"/>
          </p:cNvSpPr>
          <p:nvPr>
            <p:ph type="body" sz="quarter" idx="16" hasCustomPrompt="1"/>
          </p:nvPr>
        </p:nvSpPr>
        <p:spPr>
          <a:xfrm>
            <a:off x="2862072"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1" name="Rectangle 40">
            <a:extLst>
              <a:ext uri="{FF2B5EF4-FFF2-40B4-BE49-F238E27FC236}">
                <a16:creationId xmlns:a16="http://schemas.microsoft.com/office/drawing/2014/main" id="{481FC81D-B431-FFA6-47F5-F40C79C53D0A}"/>
              </a:ext>
              <a:ext uri="{C183D7F6-B498-43B3-948B-1728B52AA6E4}">
                <adec:decorative xmlns:adec="http://schemas.microsoft.com/office/drawing/2017/decorative" val="1"/>
              </a:ext>
            </a:extLst>
          </p:cNvPr>
          <p:cNvSpPr/>
          <p:nvPr userDrawn="1"/>
        </p:nvSpPr>
        <p:spPr>
          <a:xfrm>
            <a:off x="2946272" y="3046075"/>
            <a:ext cx="1828633" cy="96903"/>
          </a:xfrm>
          <a:prstGeom prst="rect">
            <a:avLst/>
          </a:prstGeom>
          <a:gradFill>
            <a:gsLst>
              <a:gs pos="0">
                <a:schemeClr val="accent3">
                  <a:lumMod val="60000"/>
                  <a:lumOff val="40000"/>
                </a:schemeClr>
              </a:gs>
              <a:gs pos="100000">
                <a:schemeClr val="accent2">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1" name="Text Placeholder 11">
            <a:extLst>
              <a:ext uri="{FF2B5EF4-FFF2-40B4-BE49-F238E27FC236}">
                <a16:creationId xmlns:a16="http://schemas.microsoft.com/office/drawing/2014/main" id="{B16A2860-4464-B092-801E-255A6B7DF3E4}"/>
              </a:ext>
            </a:extLst>
          </p:cNvPr>
          <p:cNvSpPr>
            <a:spLocks noGrp="1"/>
          </p:cNvSpPr>
          <p:nvPr>
            <p:ph type="body" sz="quarter" idx="21" hasCustomPrompt="1"/>
          </p:nvPr>
        </p:nvSpPr>
        <p:spPr>
          <a:xfrm>
            <a:off x="2862072"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7" name="Text Placeholder 11">
            <a:extLst>
              <a:ext uri="{FF2B5EF4-FFF2-40B4-BE49-F238E27FC236}">
                <a16:creationId xmlns:a16="http://schemas.microsoft.com/office/drawing/2014/main" id="{3B992882-DF57-9DAF-2532-06C30C2D9F16}"/>
              </a:ext>
            </a:extLst>
          </p:cNvPr>
          <p:cNvSpPr>
            <a:spLocks noGrp="1"/>
          </p:cNvSpPr>
          <p:nvPr>
            <p:ph type="body" sz="quarter" idx="27" hasCustomPrompt="1"/>
          </p:nvPr>
        </p:nvSpPr>
        <p:spPr>
          <a:xfrm>
            <a:off x="2862072"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2" name="Oval 51">
            <a:extLst>
              <a:ext uri="{FF2B5EF4-FFF2-40B4-BE49-F238E27FC236}">
                <a16:creationId xmlns:a16="http://schemas.microsoft.com/office/drawing/2014/main" id="{2E63250C-AB2E-9D56-C26C-1E211DFAD534}"/>
              </a:ext>
              <a:ext uri="{C183D7F6-B498-43B3-948B-1728B52AA6E4}">
                <adec:decorative xmlns:adec="http://schemas.microsoft.com/office/drawing/2017/decorative" val="1"/>
              </a:ext>
            </a:extLst>
          </p:cNvPr>
          <p:cNvSpPr/>
          <p:nvPr userDrawn="1"/>
        </p:nvSpPr>
        <p:spPr>
          <a:xfrm>
            <a:off x="3887724" y="4399153"/>
            <a:ext cx="685800" cy="685800"/>
          </a:xfrm>
          <a:prstGeom prst="ellipse">
            <a:avLst/>
          </a:prstGeom>
          <a:no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Picture Placeholder 13">
            <a:extLst>
              <a:ext uri="{FF2B5EF4-FFF2-40B4-BE49-F238E27FC236}">
                <a16:creationId xmlns:a16="http://schemas.microsoft.com/office/drawing/2014/main" id="{50C6734A-2661-863D-C8B6-6A4DBC588FE4}"/>
              </a:ext>
            </a:extLst>
          </p:cNvPr>
          <p:cNvSpPr>
            <a:spLocks noGrp="1" noChangeAspect="1"/>
          </p:cNvSpPr>
          <p:nvPr>
            <p:ph type="pic" sz="quarter" idx="36"/>
          </p:nvPr>
        </p:nvSpPr>
        <p:spPr>
          <a:xfrm>
            <a:off x="4002024" y="4513453"/>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28" name="Text Placeholder 11">
            <a:extLst>
              <a:ext uri="{FF2B5EF4-FFF2-40B4-BE49-F238E27FC236}">
                <a16:creationId xmlns:a16="http://schemas.microsoft.com/office/drawing/2014/main" id="{50D7755C-4D0B-D8A7-6235-8E606B39F3AB}"/>
              </a:ext>
            </a:extLst>
          </p:cNvPr>
          <p:cNvSpPr>
            <a:spLocks noGrp="1"/>
          </p:cNvSpPr>
          <p:nvPr>
            <p:ph type="body" sz="quarter" idx="28" hasCustomPrompt="1"/>
          </p:nvPr>
        </p:nvSpPr>
        <p:spPr>
          <a:xfrm>
            <a:off x="2862072"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6" name="Straight Arrow Connector 45">
            <a:extLst>
              <a:ext uri="{FF2B5EF4-FFF2-40B4-BE49-F238E27FC236}">
                <a16:creationId xmlns:a16="http://schemas.microsoft.com/office/drawing/2014/main" id="{76330766-86D4-F436-F65D-07EF389BF5F5}"/>
              </a:ext>
              <a:ext uri="{C183D7F6-B498-43B3-948B-1728B52AA6E4}">
                <adec:decorative xmlns:adec="http://schemas.microsoft.com/office/drawing/2017/decorative" val="1"/>
              </a:ext>
            </a:extLst>
          </p:cNvPr>
          <p:cNvCxnSpPr>
            <a:cxnSpLocks/>
          </p:cNvCxnSpPr>
          <p:nvPr userDrawn="1"/>
        </p:nvCxnSpPr>
        <p:spPr>
          <a:xfrm>
            <a:off x="2943485" y="5377870"/>
            <a:ext cx="1836387" cy="0"/>
          </a:xfrm>
          <a:prstGeom prst="straightConnector1">
            <a:avLst/>
          </a:prstGeom>
          <a:ln w="19050" cap="flat" cmpd="sng" algn="ctr">
            <a:gradFill>
              <a:gsLst>
                <a:gs pos="0">
                  <a:schemeClr val="accent3">
                    <a:lumMod val="75000"/>
                  </a:schemeClr>
                </a:gs>
                <a:gs pos="100000">
                  <a:schemeClr val="accent2"/>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 Placeholder 11">
            <a:extLst>
              <a:ext uri="{FF2B5EF4-FFF2-40B4-BE49-F238E27FC236}">
                <a16:creationId xmlns:a16="http://schemas.microsoft.com/office/drawing/2014/main" id="{A540E06E-3F2B-A3DC-320A-8C968AC4350E}"/>
              </a:ext>
            </a:extLst>
          </p:cNvPr>
          <p:cNvSpPr>
            <a:spLocks noGrp="1"/>
          </p:cNvSpPr>
          <p:nvPr>
            <p:ph type="body" sz="quarter" idx="17" hasCustomPrompt="1"/>
          </p:nvPr>
        </p:nvSpPr>
        <p:spPr>
          <a:xfrm>
            <a:off x="5050536"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2" name="Rectangle 41">
            <a:extLst>
              <a:ext uri="{FF2B5EF4-FFF2-40B4-BE49-F238E27FC236}">
                <a16:creationId xmlns:a16="http://schemas.microsoft.com/office/drawing/2014/main" id="{F46BB721-1D88-1A03-1D55-5C79942C7137}"/>
              </a:ext>
              <a:ext uri="{C183D7F6-B498-43B3-948B-1728B52AA6E4}">
                <adec:decorative xmlns:adec="http://schemas.microsoft.com/office/drawing/2017/decorative" val="1"/>
              </a:ext>
            </a:extLst>
          </p:cNvPr>
          <p:cNvSpPr/>
          <p:nvPr userDrawn="1"/>
        </p:nvSpPr>
        <p:spPr>
          <a:xfrm>
            <a:off x="5139140" y="3046075"/>
            <a:ext cx="1828634" cy="96903"/>
          </a:xfrm>
          <a:prstGeom prst="rect">
            <a:avLst/>
          </a:prstGeom>
          <a:gradFill>
            <a:gsLst>
              <a:gs pos="0">
                <a:schemeClr val="accent2">
                  <a:lumMod val="60000"/>
                  <a:lumOff val="40000"/>
                </a:schemeClr>
              </a:gs>
              <a:gs pos="100000">
                <a:schemeClr val="accent5">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2" name="Text Placeholder 11">
            <a:extLst>
              <a:ext uri="{FF2B5EF4-FFF2-40B4-BE49-F238E27FC236}">
                <a16:creationId xmlns:a16="http://schemas.microsoft.com/office/drawing/2014/main" id="{51307C43-6072-93E9-BF1D-64D42AE2A524}"/>
              </a:ext>
            </a:extLst>
          </p:cNvPr>
          <p:cNvSpPr>
            <a:spLocks noGrp="1"/>
          </p:cNvSpPr>
          <p:nvPr>
            <p:ph type="body" sz="quarter" idx="22" hasCustomPrompt="1"/>
          </p:nvPr>
        </p:nvSpPr>
        <p:spPr>
          <a:xfrm>
            <a:off x="5050536"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29" name="Text Placeholder 11">
            <a:extLst>
              <a:ext uri="{FF2B5EF4-FFF2-40B4-BE49-F238E27FC236}">
                <a16:creationId xmlns:a16="http://schemas.microsoft.com/office/drawing/2014/main" id="{7CBDAD5E-0048-0813-47FC-FFE93F191C5B}"/>
              </a:ext>
            </a:extLst>
          </p:cNvPr>
          <p:cNvSpPr>
            <a:spLocks noGrp="1"/>
          </p:cNvSpPr>
          <p:nvPr>
            <p:ph type="body" sz="quarter" idx="29" hasCustomPrompt="1"/>
          </p:nvPr>
        </p:nvSpPr>
        <p:spPr>
          <a:xfrm>
            <a:off x="5065776"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4" name="Oval 53">
            <a:extLst>
              <a:ext uri="{FF2B5EF4-FFF2-40B4-BE49-F238E27FC236}">
                <a16:creationId xmlns:a16="http://schemas.microsoft.com/office/drawing/2014/main" id="{60D4CBD1-AAC9-3F04-3F49-E8579F6F7ABE}"/>
              </a:ext>
              <a:ext uri="{C183D7F6-B498-43B3-948B-1728B52AA6E4}">
                <adec:decorative xmlns:adec="http://schemas.microsoft.com/office/drawing/2017/decorative" val="1"/>
              </a:ext>
            </a:extLst>
          </p:cNvPr>
          <p:cNvSpPr/>
          <p:nvPr userDrawn="1"/>
        </p:nvSpPr>
        <p:spPr>
          <a:xfrm>
            <a:off x="6092952" y="4402872"/>
            <a:ext cx="685800" cy="685800"/>
          </a:xfrm>
          <a:prstGeom prst="ellipse">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Picture Placeholder 13">
            <a:extLst>
              <a:ext uri="{FF2B5EF4-FFF2-40B4-BE49-F238E27FC236}">
                <a16:creationId xmlns:a16="http://schemas.microsoft.com/office/drawing/2014/main" id="{F154717D-74D1-298B-EF00-6CCA65AA969B}"/>
              </a:ext>
            </a:extLst>
          </p:cNvPr>
          <p:cNvSpPr>
            <a:spLocks noGrp="1" noChangeAspect="1"/>
          </p:cNvSpPr>
          <p:nvPr>
            <p:ph type="pic" sz="quarter" idx="37"/>
          </p:nvPr>
        </p:nvSpPr>
        <p:spPr>
          <a:xfrm>
            <a:off x="6207252" y="4517172"/>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30" name="Text Placeholder 11">
            <a:extLst>
              <a:ext uri="{FF2B5EF4-FFF2-40B4-BE49-F238E27FC236}">
                <a16:creationId xmlns:a16="http://schemas.microsoft.com/office/drawing/2014/main" id="{3A23A057-C011-EB28-4869-A73F2E3B3394}"/>
              </a:ext>
            </a:extLst>
          </p:cNvPr>
          <p:cNvSpPr>
            <a:spLocks noGrp="1"/>
          </p:cNvSpPr>
          <p:nvPr>
            <p:ph type="body" sz="quarter" idx="30" hasCustomPrompt="1"/>
          </p:nvPr>
        </p:nvSpPr>
        <p:spPr>
          <a:xfrm>
            <a:off x="5065776"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7" name="Straight Arrow Connector 46">
            <a:extLst>
              <a:ext uri="{FF2B5EF4-FFF2-40B4-BE49-F238E27FC236}">
                <a16:creationId xmlns:a16="http://schemas.microsoft.com/office/drawing/2014/main" id="{EF51B736-1CC5-842A-AFEB-68B18931713C}"/>
              </a:ext>
              <a:ext uri="{C183D7F6-B498-43B3-948B-1728B52AA6E4}">
                <adec:decorative xmlns:adec="http://schemas.microsoft.com/office/drawing/2017/decorative" val="1"/>
              </a:ext>
            </a:extLst>
          </p:cNvPr>
          <p:cNvCxnSpPr>
            <a:cxnSpLocks/>
          </p:cNvCxnSpPr>
          <p:nvPr userDrawn="1"/>
        </p:nvCxnSpPr>
        <p:spPr>
          <a:xfrm>
            <a:off x="5142870" y="5377870"/>
            <a:ext cx="1827639" cy="0"/>
          </a:xfrm>
          <a:prstGeom prst="straightConnector1">
            <a:avLst/>
          </a:prstGeom>
          <a:ln w="19050" cap="flat" cmpd="sng" algn="ctr">
            <a:gradFill>
              <a:gsLst>
                <a:gs pos="0">
                  <a:schemeClr val="accent2"/>
                </a:gs>
                <a:gs pos="100000">
                  <a:schemeClr val="accent5">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Text Placeholder 11">
            <a:extLst>
              <a:ext uri="{FF2B5EF4-FFF2-40B4-BE49-F238E27FC236}">
                <a16:creationId xmlns:a16="http://schemas.microsoft.com/office/drawing/2014/main" id="{716EA8F4-B9C4-991F-0EBC-D79877AD4680}"/>
              </a:ext>
            </a:extLst>
          </p:cNvPr>
          <p:cNvSpPr>
            <a:spLocks noGrp="1"/>
          </p:cNvSpPr>
          <p:nvPr>
            <p:ph type="body" sz="quarter" idx="18" hasCustomPrompt="1"/>
          </p:nvPr>
        </p:nvSpPr>
        <p:spPr>
          <a:xfrm>
            <a:off x="7239000"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3" name="Rectangle 42">
            <a:extLst>
              <a:ext uri="{FF2B5EF4-FFF2-40B4-BE49-F238E27FC236}">
                <a16:creationId xmlns:a16="http://schemas.microsoft.com/office/drawing/2014/main" id="{3B68F5A8-E314-7C7A-6CB2-3036DF2A8EFC}"/>
              </a:ext>
              <a:ext uri="{C183D7F6-B498-43B3-948B-1728B52AA6E4}">
                <adec:decorative xmlns:adec="http://schemas.microsoft.com/office/drawing/2017/decorative" val="1"/>
              </a:ext>
            </a:extLst>
          </p:cNvPr>
          <p:cNvSpPr/>
          <p:nvPr userDrawn="1"/>
        </p:nvSpPr>
        <p:spPr>
          <a:xfrm>
            <a:off x="7332009" y="3046075"/>
            <a:ext cx="1828635" cy="96903"/>
          </a:xfrm>
          <a:prstGeom prst="rect">
            <a:avLst/>
          </a:prstGeom>
          <a:gradFill>
            <a:gsLst>
              <a:gs pos="0">
                <a:schemeClr val="accent5">
                  <a:lumMod val="60000"/>
                  <a:lumOff val="40000"/>
                </a:schemeClr>
              </a:gs>
              <a:gs pos="100000">
                <a:schemeClr val="accent6">
                  <a:lumMod val="60000"/>
                  <a:lumOff val="4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3" name="Text Placeholder 11">
            <a:extLst>
              <a:ext uri="{FF2B5EF4-FFF2-40B4-BE49-F238E27FC236}">
                <a16:creationId xmlns:a16="http://schemas.microsoft.com/office/drawing/2014/main" id="{5A57C80F-4C30-26E1-B38B-3D7238EC9A49}"/>
              </a:ext>
            </a:extLst>
          </p:cNvPr>
          <p:cNvSpPr>
            <a:spLocks noGrp="1"/>
          </p:cNvSpPr>
          <p:nvPr>
            <p:ph type="body" sz="quarter" idx="23" hasCustomPrompt="1"/>
          </p:nvPr>
        </p:nvSpPr>
        <p:spPr>
          <a:xfrm>
            <a:off x="7239000"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1" name="Text Placeholder 11">
            <a:extLst>
              <a:ext uri="{FF2B5EF4-FFF2-40B4-BE49-F238E27FC236}">
                <a16:creationId xmlns:a16="http://schemas.microsoft.com/office/drawing/2014/main" id="{A44BB5F0-6856-4711-058C-73C1CBF4646B}"/>
              </a:ext>
            </a:extLst>
          </p:cNvPr>
          <p:cNvSpPr>
            <a:spLocks noGrp="1"/>
          </p:cNvSpPr>
          <p:nvPr>
            <p:ph type="body" sz="quarter" idx="31" hasCustomPrompt="1"/>
          </p:nvPr>
        </p:nvSpPr>
        <p:spPr>
          <a:xfrm>
            <a:off x="7257288"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6" name="Oval 55">
            <a:extLst>
              <a:ext uri="{FF2B5EF4-FFF2-40B4-BE49-F238E27FC236}">
                <a16:creationId xmlns:a16="http://schemas.microsoft.com/office/drawing/2014/main" id="{1EF56C89-6D7E-4196-72BF-23ACEE823C0C}"/>
              </a:ext>
              <a:ext uri="{C183D7F6-B498-43B3-948B-1728B52AA6E4}">
                <adec:decorative xmlns:adec="http://schemas.microsoft.com/office/drawing/2017/decorative" val="1"/>
              </a:ext>
            </a:extLst>
          </p:cNvPr>
          <p:cNvSpPr/>
          <p:nvPr userDrawn="1"/>
        </p:nvSpPr>
        <p:spPr>
          <a:xfrm>
            <a:off x="8298180" y="4402872"/>
            <a:ext cx="685800" cy="685800"/>
          </a:xfrm>
          <a:prstGeom prst="ellipse">
            <a:avLst/>
          </a:prstGeom>
          <a:no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Picture Placeholder 13">
            <a:extLst>
              <a:ext uri="{FF2B5EF4-FFF2-40B4-BE49-F238E27FC236}">
                <a16:creationId xmlns:a16="http://schemas.microsoft.com/office/drawing/2014/main" id="{719C23E4-DE06-6FF4-1BC9-5305DE50D817}"/>
              </a:ext>
            </a:extLst>
          </p:cNvPr>
          <p:cNvSpPr>
            <a:spLocks noGrp="1" noChangeAspect="1"/>
          </p:cNvSpPr>
          <p:nvPr>
            <p:ph type="pic" sz="quarter" idx="38"/>
          </p:nvPr>
        </p:nvSpPr>
        <p:spPr>
          <a:xfrm>
            <a:off x="8412480" y="4517172"/>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32" name="Text Placeholder 11">
            <a:extLst>
              <a:ext uri="{FF2B5EF4-FFF2-40B4-BE49-F238E27FC236}">
                <a16:creationId xmlns:a16="http://schemas.microsoft.com/office/drawing/2014/main" id="{F5A3DA8B-D38B-3994-FE85-0A331FBADADA}"/>
              </a:ext>
            </a:extLst>
          </p:cNvPr>
          <p:cNvSpPr>
            <a:spLocks noGrp="1"/>
          </p:cNvSpPr>
          <p:nvPr>
            <p:ph type="body" sz="quarter" idx="32" hasCustomPrompt="1"/>
          </p:nvPr>
        </p:nvSpPr>
        <p:spPr>
          <a:xfrm>
            <a:off x="7257288"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8" name="Straight Arrow Connector 47">
            <a:extLst>
              <a:ext uri="{FF2B5EF4-FFF2-40B4-BE49-F238E27FC236}">
                <a16:creationId xmlns:a16="http://schemas.microsoft.com/office/drawing/2014/main" id="{A771B152-C165-EE9A-CF25-69B01D93984C}"/>
              </a:ext>
              <a:ext uri="{C183D7F6-B498-43B3-948B-1728B52AA6E4}">
                <adec:decorative xmlns:adec="http://schemas.microsoft.com/office/drawing/2017/decorative" val="1"/>
              </a:ext>
            </a:extLst>
          </p:cNvPr>
          <p:cNvCxnSpPr>
            <a:cxnSpLocks/>
          </p:cNvCxnSpPr>
          <p:nvPr userDrawn="1"/>
        </p:nvCxnSpPr>
        <p:spPr>
          <a:xfrm>
            <a:off x="7333507" y="5377870"/>
            <a:ext cx="1828375" cy="0"/>
          </a:xfrm>
          <a:prstGeom prst="straightConnector1">
            <a:avLst/>
          </a:prstGeom>
          <a:ln w="19050" cap="flat" cmpd="sng" algn="ctr">
            <a:gradFill>
              <a:gsLst>
                <a:gs pos="0">
                  <a:schemeClr val="accent5">
                    <a:lumMod val="60000"/>
                    <a:lumOff val="40000"/>
                  </a:schemeClr>
                </a:gs>
                <a:gs pos="100000">
                  <a:schemeClr val="accent6"/>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Text Placeholder 11">
            <a:extLst>
              <a:ext uri="{FF2B5EF4-FFF2-40B4-BE49-F238E27FC236}">
                <a16:creationId xmlns:a16="http://schemas.microsoft.com/office/drawing/2014/main" id="{D3896BC4-3EFC-36C4-6071-4BF0E987F965}"/>
              </a:ext>
            </a:extLst>
          </p:cNvPr>
          <p:cNvSpPr>
            <a:spLocks noGrp="1"/>
          </p:cNvSpPr>
          <p:nvPr>
            <p:ph type="body" sz="quarter" idx="19" hasCustomPrompt="1"/>
          </p:nvPr>
        </p:nvSpPr>
        <p:spPr>
          <a:xfrm>
            <a:off x="9427464" y="2556796"/>
            <a:ext cx="1996440" cy="381190"/>
          </a:xfrm>
        </p:spPr>
        <p:txBody>
          <a:bodyPr lIns="91440" tIns="0">
            <a:noAutofit/>
          </a:bodyPr>
          <a:lstStyle>
            <a:lvl1pPr marL="0" indent="0">
              <a:buNone/>
              <a:defRPr sz="2200" b="1" cap="all" spc="100"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4" name="Rectangle 43">
            <a:extLst>
              <a:ext uri="{FF2B5EF4-FFF2-40B4-BE49-F238E27FC236}">
                <a16:creationId xmlns:a16="http://schemas.microsoft.com/office/drawing/2014/main" id="{B6236E29-4894-FD6C-E56F-5B1CBA99A5AC}"/>
              </a:ext>
              <a:ext uri="{C183D7F6-B498-43B3-948B-1728B52AA6E4}">
                <adec:decorative xmlns:adec="http://schemas.microsoft.com/office/drawing/2017/decorative" val="1"/>
              </a:ext>
            </a:extLst>
          </p:cNvPr>
          <p:cNvSpPr/>
          <p:nvPr userDrawn="1"/>
        </p:nvSpPr>
        <p:spPr>
          <a:xfrm>
            <a:off x="9524879" y="3046075"/>
            <a:ext cx="1828635" cy="96903"/>
          </a:xfrm>
          <a:prstGeom prst="rect">
            <a:avLst/>
          </a:prstGeom>
          <a:gradFill>
            <a:gsLst>
              <a:gs pos="0">
                <a:schemeClr val="accent6">
                  <a:lumMod val="60000"/>
                  <a:lumOff val="40000"/>
                </a:schemeClr>
              </a:gs>
              <a:gs pos="100000">
                <a:schemeClr val="accent6">
                  <a:lumMod val="40000"/>
                  <a:lumOff val="60000"/>
                </a:schemeClr>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4" name="Text Placeholder 11">
            <a:extLst>
              <a:ext uri="{FF2B5EF4-FFF2-40B4-BE49-F238E27FC236}">
                <a16:creationId xmlns:a16="http://schemas.microsoft.com/office/drawing/2014/main" id="{4C2DA584-D9BC-7A01-6F48-363C7F6465E3}"/>
              </a:ext>
            </a:extLst>
          </p:cNvPr>
          <p:cNvSpPr>
            <a:spLocks noGrp="1"/>
          </p:cNvSpPr>
          <p:nvPr>
            <p:ph type="body" sz="quarter" idx="24" hasCustomPrompt="1"/>
          </p:nvPr>
        </p:nvSpPr>
        <p:spPr>
          <a:xfrm>
            <a:off x="9427464" y="3391012"/>
            <a:ext cx="1996440" cy="778652"/>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3" name="Text Placeholder 11">
            <a:extLst>
              <a:ext uri="{FF2B5EF4-FFF2-40B4-BE49-F238E27FC236}">
                <a16:creationId xmlns:a16="http://schemas.microsoft.com/office/drawing/2014/main" id="{70C95BBB-511F-F8F5-EF37-C6109C4AF4E0}"/>
              </a:ext>
            </a:extLst>
          </p:cNvPr>
          <p:cNvSpPr>
            <a:spLocks noGrp="1"/>
          </p:cNvSpPr>
          <p:nvPr>
            <p:ph type="body" sz="quarter" idx="33" hasCustomPrompt="1"/>
          </p:nvPr>
        </p:nvSpPr>
        <p:spPr>
          <a:xfrm>
            <a:off x="9448800" y="4505738"/>
            <a:ext cx="893064" cy="335470"/>
          </a:xfrm>
        </p:spPr>
        <p:txBody>
          <a:bodyPr lIns="91440" tIns="0">
            <a:noAutofit/>
          </a:bodyPr>
          <a:lstStyle>
            <a:lvl1pPr marL="0" indent="0">
              <a:buNone/>
              <a:defRPr sz="2000" cap="all" baseline="0">
                <a:solidFill>
                  <a:schemeClr val="tx1"/>
                </a:solidFill>
                <a:latin typeface="+mj-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xxxx</a:t>
            </a:r>
          </a:p>
        </p:txBody>
      </p:sp>
      <p:sp>
        <p:nvSpPr>
          <p:cNvPr id="58" name="Oval 57">
            <a:extLst>
              <a:ext uri="{FF2B5EF4-FFF2-40B4-BE49-F238E27FC236}">
                <a16:creationId xmlns:a16="http://schemas.microsoft.com/office/drawing/2014/main" id="{D0EDAC9C-0C6E-2807-24D5-3E04B5E2109B}"/>
              </a:ext>
              <a:ext uri="{C183D7F6-B498-43B3-948B-1728B52AA6E4}">
                <adec:decorative xmlns:adec="http://schemas.microsoft.com/office/drawing/2017/decorative" val="1"/>
              </a:ext>
            </a:extLst>
          </p:cNvPr>
          <p:cNvSpPr/>
          <p:nvPr userDrawn="1"/>
        </p:nvSpPr>
        <p:spPr>
          <a:xfrm>
            <a:off x="10484738" y="4399153"/>
            <a:ext cx="685800" cy="685800"/>
          </a:xfrm>
          <a:prstGeom prst="ellipse">
            <a:avLst/>
          </a:prstGeom>
          <a:noFill/>
          <a:ln w="127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Picture Placeholder 13">
            <a:extLst>
              <a:ext uri="{FF2B5EF4-FFF2-40B4-BE49-F238E27FC236}">
                <a16:creationId xmlns:a16="http://schemas.microsoft.com/office/drawing/2014/main" id="{B1C0F0FD-844D-CC54-986F-B8522F12B0A5}"/>
              </a:ext>
            </a:extLst>
          </p:cNvPr>
          <p:cNvSpPr>
            <a:spLocks noGrp="1" noChangeAspect="1"/>
          </p:cNvSpPr>
          <p:nvPr>
            <p:ph type="pic" sz="quarter" idx="39"/>
          </p:nvPr>
        </p:nvSpPr>
        <p:spPr>
          <a:xfrm>
            <a:off x="10599038" y="4513453"/>
            <a:ext cx="457200" cy="457200"/>
          </a:xfrm>
          <a:prstGeom prst="ellipse">
            <a:avLst/>
          </a:prstGeom>
          <a:ln w="19050">
            <a:noFill/>
          </a:ln>
        </p:spPr>
        <p:txBody>
          <a:bodyPr lIns="0" tIns="0" rIns="0" bIns="0">
            <a:normAutofit/>
          </a:bodyPr>
          <a:lstStyle>
            <a:lvl1pPr marL="0" indent="0" algn="ctr">
              <a:buNone/>
              <a:defRPr sz="600">
                <a:solidFill>
                  <a:schemeClr val="tx1"/>
                </a:solidFill>
              </a:defRPr>
            </a:lvl1pPr>
          </a:lstStyle>
          <a:p>
            <a:r>
              <a:rPr lang="en-US"/>
              <a:t>Click icon to add picture</a:t>
            </a:r>
            <a:endParaRPr lang="en-US" dirty="0"/>
          </a:p>
        </p:txBody>
      </p:sp>
      <p:sp>
        <p:nvSpPr>
          <p:cNvPr id="34" name="Text Placeholder 11">
            <a:extLst>
              <a:ext uri="{FF2B5EF4-FFF2-40B4-BE49-F238E27FC236}">
                <a16:creationId xmlns:a16="http://schemas.microsoft.com/office/drawing/2014/main" id="{A00816D8-6779-7BDB-52AB-5BD0A2479E4C}"/>
              </a:ext>
            </a:extLst>
          </p:cNvPr>
          <p:cNvSpPr>
            <a:spLocks noGrp="1"/>
          </p:cNvSpPr>
          <p:nvPr>
            <p:ph type="body" sz="quarter" idx="34" hasCustomPrompt="1"/>
          </p:nvPr>
        </p:nvSpPr>
        <p:spPr>
          <a:xfrm>
            <a:off x="9448800" y="4894756"/>
            <a:ext cx="893064" cy="335470"/>
          </a:xfrm>
        </p:spPr>
        <p:txBody>
          <a:bodyPr lIns="91440" tIns="0">
            <a:noAutofit/>
          </a:bodyPr>
          <a:lstStyle>
            <a:lvl1pPr marL="0" indent="0">
              <a:buNone/>
              <a:defRPr sz="14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Text</a:t>
            </a:r>
          </a:p>
        </p:txBody>
      </p:sp>
      <p:cxnSp>
        <p:nvCxnSpPr>
          <p:cNvPr id="49" name="Straight Arrow Connector 48">
            <a:extLst>
              <a:ext uri="{FF2B5EF4-FFF2-40B4-BE49-F238E27FC236}">
                <a16:creationId xmlns:a16="http://schemas.microsoft.com/office/drawing/2014/main" id="{D6506AFF-E40E-308E-7907-FBFC4DAAB885}"/>
              </a:ext>
              <a:ext uri="{C183D7F6-B498-43B3-948B-1728B52AA6E4}">
                <adec:decorative xmlns:adec="http://schemas.microsoft.com/office/drawing/2017/decorative" val="1"/>
              </a:ext>
            </a:extLst>
          </p:cNvPr>
          <p:cNvCxnSpPr>
            <a:cxnSpLocks/>
          </p:cNvCxnSpPr>
          <p:nvPr userDrawn="1"/>
        </p:nvCxnSpPr>
        <p:spPr>
          <a:xfrm>
            <a:off x="9524879" y="5376344"/>
            <a:ext cx="1828635" cy="3053"/>
          </a:xfrm>
          <a:prstGeom prst="straightConnector1">
            <a:avLst/>
          </a:prstGeom>
          <a:ln w="19050" cap="flat" cmpd="sng" algn="ctr">
            <a:gradFill>
              <a:gsLst>
                <a:gs pos="0">
                  <a:schemeClr val="accent6"/>
                </a:gs>
                <a:gs pos="100000">
                  <a:schemeClr val="accent6">
                    <a:lumMod val="60000"/>
                    <a:lumOff val="40000"/>
                  </a:schemeClr>
                </a:gs>
              </a:gsLst>
              <a:lin ang="2160000" scaled="0"/>
            </a:gra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Footer Placeholder 4">
            <a:extLst>
              <a:ext uri="{FF2B5EF4-FFF2-40B4-BE49-F238E27FC236}">
                <a16:creationId xmlns:a16="http://schemas.microsoft.com/office/drawing/2014/main" id="{F80A11DE-725C-8DE4-9A24-3718A3D143CD}"/>
              </a:ext>
            </a:extLst>
          </p:cNvPr>
          <p:cNvSpPr>
            <a:spLocks noGrp="1"/>
          </p:cNvSpPr>
          <p:nvPr>
            <p:ph type="ftr" sz="quarter" idx="11"/>
          </p:nvPr>
        </p:nvSpPr>
        <p:spPr>
          <a:xfrm>
            <a:off x="670560" y="6072886"/>
            <a:ext cx="4114800" cy="365125"/>
          </a:xfrm>
          <a:prstGeom prst="rect">
            <a:avLst/>
          </a:prstGeom>
        </p:spPr>
        <p:txBody>
          <a:bodyPr/>
          <a:lstStyle>
            <a:lvl1pPr algn="l">
              <a:defRPr sz="1000" cap="all"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EC6D8153-A9C6-7A32-CDB7-BF9D7CB1ACD3}"/>
              </a:ext>
            </a:extLst>
          </p:cNvPr>
          <p:cNvSpPr>
            <a:spLocks noGrp="1"/>
          </p:cNvSpPr>
          <p:nvPr>
            <p:ph type="sldNum" sz="quarter" idx="12"/>
          </p:nvPr>
        </p:nvSpPr>
        <p:spPr>
          <a:xfrm>
            <a:off x="8738616" y="6072886"/>
            <a:ext cx="2743200" cy="365125"/>
          </a:xfrm>
          <a:prstGeom prst="rect">
            <a:avLst/>
          </a:prstGeom>
        </p:spPr>
        <p:txBody>
          <a:bodyPr/>
          <a:lstStyle>
            <a:lvl1pPr>
              <a:defRPr sz="1000">
                <a:solidFill>
                  <a:schemeClr val="tx1"/>
                </a:solidFill>
              </a:defRPr>
            </a:lvl1pPr>
          </a:lstStyle>
          <a:p>
            <a:r>
              <a:rPr lang="en-US" dirty="0"/>
              <a:t>0</a:t>
            </a:r>
            <a:fld id="{E6B975A5-EA91-314B-AF62-F6E264554D2F}" type="slidenum">
              <a:rPr lang="en-US" smtClean="0"/>
              <a:pPr/>
              <a:t>‹#›</a:t>
            </a:fld>
            <a:endParaRPr lang="en-US" dirty="0"/>
          </a:p>
        </p:txBody>
      </p:sp>
    </p:spTree>
    <p:extLst>
      <p:ext uri="{BB962C8B-B14F-4D97-AF65-F5344CB8AC3E}">
        <p14:creationId xmlns:p14="http://schemas.microsoft.com/office/powerpoint/2010/main" val="1624269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776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26030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5B3CF9-F6C1-EAC2-6ED5-F21274EDAC42}"/>
              </a:ext>
            </a:extLst>
          </p:cNvPr>
          <p:cNvSpPr>
            <a:spLocks noGrp="1"/>
          </p:cNvSpPr>
          <p:nvPr>
            <p:ph type="title"/>
          </p:nvPr>
        </p:nvSpPr>
        <p:spPr>
          <a:xfrm>
            <a:off x="594804" y="365125"/>
            <a:ext cx="1088701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484AFB-9D3B-E902-0E64-B953D0E5C9E9}"/>
              </a:ext>
            </a:extLst>
          </p:cNvPr>
          <p:cNvSpPr>
            <a:spLocks noGrp="1"/>
          </p:cNvSpPr>
          <p:nvPr>
            <p:ph type="body" idx="1"/>
          </p:nvPr>
        </p:nvSpPr>
        <p:spPr>
          <a:xfrm>
            <a:off x="594804" y="1825625"/>
            <a:ext cx="10887012" cy="41135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54D8918F-6808-DDE5-4A7C-495DAC248971}"/>
              </a:ext>
            </a:extLst>
          </p:cNvPr>
          <p:cNvSpPr>
            <a:spLocks noGrp="1"/>
          </p:cNvSpPr>
          <p:nvPr>
            <p:ph type="ftr" sz="quarter" idx="3"/>
          </p:nvPr>
        </p:nvSpPr>
        <p:spPr>
          <a:xfrm>
            <a:off x="670560" y="6072886"/>
            <a:ext cx="4114800" cy="365125"/>
          </a:xfrm>
          <a:prstGeom prst="rect">
            <a:avLst/>
          </a:prstGeom>
        </p:spPr>
        <p:txBody>
          <a:bodyPr/>
          <a:lstStyle>
            <a:lvl1pPr algn="l">
              <a:defRPr sz="1000" cap="all" baseline="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2BAE7F7-F858-A80B-8F72-EFA0C33C1006}"/>
              </a:ext>
            </a:extLst>
          </p:cNvPr>
          <p:cNvSpPr>
            <a:spLocks noGrp="1"/>
          </p:cNvSpPr>
          <p:nvPr>
            <p:ph type="sldNum" sz="quarter" idx="4"/>
          </p:nvPr>
        </p:nvSpPr>
        <p:spPr>
          <a:xfrm>
            <a:off x="8738616" y="6072886"/>
            <a:ext cx="2743200" cy="365125"/>
          </a:xfrm>
          <a:prstGeom prst="rect">
            <a:avLst/>
          </a:prstGeom>
        </p:spPr>
        <p:txBody>
          <a:bodyPr/>
          <a:lstStyle>
            <a:lvl1pPr algn="r">
              <a:defRPr sz="1000">
                <a:solidFill>
                  <a:schemeClr val="tx1"/>
                </a:solidFill>
              </a:defRPr>
            </a:lvl1pPr>
          </a:lstStyle>
          <a:p>
            <a:r>
              <a:rPr lang="en-US" dirty="0"/>
              <a:t>0</a:t>
            </a:r>
            <a:fld id="{E6B975A5-EA91-314B-AF62-F6E264554D2F}" type="slidenum">
              <a:rPr lang="en-US" smtClean="0"/>
              <a:pPr/>
              <a:t>‹#›</a:t>
            </a:fld>
            <a:endParaRPr lang="en-US" dirty="0"/>
          </a:p>
        </p:txBody>
      </p:sp>
    </p:spTree>
    <p:extLst>
      <p:ext uri="{BB962C8B-B14F-4D97-AF65-F5344CB8AC3E}">
        <p14:creationId xmlns:p14="http://schemas.microsoft.com/office/powerpoint/2010/main" val="1302850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660148"/>
      </p:ext>
    </p:extLst>
  </p:cSld>
  <p:clrMap bg1="lt1" tx1="dk1" bg2="lt2" tx2="dk2" accent1="accent1" accent2="accent2" accent3="accent3" accent4="accent4" accent5="accent5" accent6="accent6" hlink="hlink" folHlink="folHlink"/>
  <p:sldLayoutIdLst>
    <p:sldLayoutId id="214748366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guerrero777/Capstone_2.git"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mailto:sguerrero@my.yearupunited.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p:cNvGrpSpPr/>
        <p:nvPr/>
      </p:nvGrpSpPr>
      <p:grpSpPr>
        <a:xfrm>
          <a:off x="0" y="0"/>
          <a:ext cx="0" cy="0"/>
          <a:chOff x="0" y="0"/>
          <a:chExt cx="0" cy="0"/>
        </a:xfrm>
      </p:grpSpPr>
      <p:sp>
        <p:nvSpPr>
          <p:cNvPr id="2" name="Text 0"/>
          <p:cNvSpPr/>
          <p:nvPr/>
        </p:nvSpPr>
        <p:spPr>
          <a:xfrm>
            <a:off x="457200" y="457200"/>
            <a:ext cx="9144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700" normalizeH="0" baseline="0" noProof="0" dirty="0">
                <a:ln>
                  <a:noFill/>
                </a:ln>
                <a:solidFill>
                  <a:srgbClr val="F4CE2F"/>
                </a:solidFill>
                <a:effectLst/>
                <a:uLnTx/>
                <a:uFillTx/>
                <a:latin typeface="Avenir Next LT Pro" pitchFamily="34" charset="0"/>
                <a:ea typeface="Avenir Next LT Pro" pitchFamily="34" charset="-122"/>
                <a:cs typeface="Avenir Next LT Pro" pitchFamily="34" charset="-120"/>
              </a:rPr>
              <a:t>EmporiUm</a:t>
            </a:r>
            <a:endParaRPr kumimoji="0" lang="en-US" sz="13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Text 1"/>
          <p:cNvSpPr/>
          <p:nvPr/>
        </p:nvSpPr>
        <p:spPr>
          <a:xfrm>
            <a:off x="457200" y="868680"/>
            <a:ext cx="1097280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FFFFFF"/>
                </a:solidFill>
                <a:effectLst/>
                <a:uLnTx/>
                <a:uFillTx/>
                <a:latin typeface="Avenir Next LT Pro "/>
                <a:ea typeface="+mn-ea"/>
                <a:cs typeface="+mn-cs"/>
              </a:rPr>
              <a:t>Sales Territory Analysis</a:t>
            </a:r>
            <a:endParaRPr kumimoji="0" lang="en-US" sz="5600" b="0" i="0" u="none" strike="noStrike" kern="1200" cap="none" spc="0" normalizeH="0" baseline="0" noProof="0" dirty="0">
              <a:ln>
                <a:noFill/>
              </a:ln>
              <a:solidFill>
                <a:srgbClr val="FFFFFF"/>
              </a:solidFill>
              <a:effectLst/>
              <a:uLnTx/>
              <a:uFillTx/>
              <a:latin typeface="Avenir Next LT Pro "/>
              <a:ea typeface="+mn-ea"/>
              <a:cs typeface="+mn-cs"/>
            </a:endParaRPr>
          </a:p>
        </p:txBody>
      </p:sp>
      <p:sp>
        <p:nvSpPr>
          <p:cNvPr id="4" name="Text 2"/>
          <p:cNvSpPr/>
          <p:nvPr/>
        </p:nvSpPr>
        <p:spPr>
          <a:xfrm>
            <a:off x="457200" y="1993392"/>
            <a:ext cx="10972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D23958">
                    <a:lumMod val="60000"/>
                    <a:lumOff val="40000"/>
                  </a:srgbClr>
                </a:solidFill>
                <a:effectLst/>
                <a:uLnTx/>
                <a:uFillTx/>
                <a:latin typeface="Avenir Next LT Pro" pitchFamily="34" charset="0"/>
                <a:ea typeface="Avenir Next LT Pro" pitchFamily="34" charset="-122"/>
                <a:cs typeface="Avenir Next LT Pro" pitchFamily="34" charset="-120"/>
              </a:rPr>
              <a:t>Texas  |  New Jersey  —  Cross-Region Comparison</a:t>
            </a:r>
            <a:endParaRPr kumimoji="0" lang="en-US" sz="1500" b="0" i="0" u="none" strike="noStrike" kern="1200" cap="none" spc="0" normalizeH="0" baseline="0" noProof="0" dirty="0">
              <a:ln>
                <a:noFill/>
              </a:ln>
              <a:solidFill>
                <a:srgbClr val="D23958">
                  <a:lumMod val="60000"/>
                  <a:lumOff val="40000"/>
                </a:srgbClr>
              </a:solidFill>
              <a:effectLst/>
              <a:uLnTx/>
              <a:uFillTx/>
              <a:latin typeface="Avenir Next LT Pro "/>
              <a:ea typeface="+mn-ea"/>
              <a:cs typeface="+mn-cs"/>
            </a:endParaRPr>
          </a:p>
        </p:txBody>
      </p:sp>
      <p:sp>
        <p:nvSpPr>
          <p:cNvPr id="10" name="Text 8"/>
          <p:cNvSpPr/>
          <p:nvPr/>
        </p:nvSpPr>
        <p:spPr>
          <a:xfrm>
            <a:off x="457200" y="2743200"/>
            <a:ext cx="10972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9299AE"/>
                </a:solidFill>
                <a:effectLst/>
                <a:uLnTx/>
                <a:uFillTx/>
                <a:latin typeface="Avenir Next LT Pro "/>
                <a:ea typeface="Avenir Next LT Pro" pitchFamily="34" charset="-122"/>
                <a:cs typeface="Avenir Next LT Pro" pitchFamily="34" charset="-120"/>
              </a:rPr>
              <a:t>Analyst: </a:t>
            </a:r>
            <a:r>
              <a:rPr kumimoji="0" lang="en-US" sz="1400" b="0" i="0" u="none" strike="noStrike" kern="1200" cap="none" spc="0" normalizeH="0" baseline="0" noProof="0" dirty="0">
                <a:ln>
                  <a:noFill/>
                </a:ln>
                <a:solidFill>
                  <a:srgbClr val="FFFFFF"/>
                </a:solidFill>
                <a:effectLst/>
                <a:uLnTx/>
                <a:uFillTx/>
                <a:latin typeface="Avenir Next LT Pro "/>
                <a:ea typeface="Avenir Next LT Pro" pitchFamily="34" charset="-122"/>
                <a:cs typeface="Avenir Next LT Pro" pitchFamily="34" charset="-120"/>
              </a:rPr>
              <a:t>Sharleen Guerrero</a:t>
            </a: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11" name="Text 9"/>
          <p:cNvSpPr/>
          <p:nvPr/>
        </p:nvSpPr>
        <p:spPr>
          <a:xfrm>
            <a:off x="457200" y="3127248"/>
            <a:ext cx="10972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9299AE"/>
                </a:solidFill>
                <a:effectLst/>
                <a:uLnTx/>
                <a:uFillTx/>
                <a:latin typeface="Avenir Next LT Pro" pitchFamily="34" charset="0"/>
                <a:ea typeface="Avenir Next LT Pro" pitchFamily="34" charset="-122"/>
                <a:cs typeface="Avenir Next LT Pro" pitchFamily="34" charset="-120"/>
              </a:rPr>
              <a:t>Period: </a:t>
            </a:r>
            <a:r>
              <a:rPr kumimoji="0" lang="en-US" sz="14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January 2022 – December 2025  |  48 Months  |  335,129 Transactions</a:t>
            </a: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12" name="Text 10"/>
          <p:cNvSpPr/>
          <p:nvPr/>
        </p:nvSpPr>
        <p:spPr>
          <a:xfrm>
            <a:off x="457200" y="3511296"/>
            <a:ext cx="10972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9299AE"/>
                </a:solidFill>
                <a:effectLst/>
                <a:uLnTx/>
                <a:uFillTx/>
                <a:latin typeface="Avenir Next LT Pro" pitchFamily="34" charset="0"/>
                <a:ea typeface="Avenir Next LT Pro" pitchFamily="34" charset="-122"/>
                <a:cs typeface="Avenir Next LT Pro" pitchFamily="34" charset="-120"/>
              </a:rPr>
              <a:t>Tools: </a:t>
            </a:r>
            <a:r>
              <a:rPr kumimoji="0" lang="en-US" sz="14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Python  ·  Pandas  ·  NumPy  ·  Matplotlib</a:t>
            </a: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13" name="Shape 11"/>
          <p:cNvSpPr/>
          <p:nvPr/>
        </p:nvSpPr>
        <p:spPr>
          <a:xfrm>
            <a:off x="365760" y="6498771"/>
            <a:ext cx="11457432" cy="0"/>
          </a:xfrm>
          <a:prstGeom prst="line">
            <a:avLst/>
          </a:prstGeom>
          <a:noFill/>
          <a:ln w="10160">
            <a:solidFill>
              <a:srgbClr val="F4CE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Next LT Pro "/>
              <a:ea typeface="+mn-ea"/>
              <a:cs typeface="+mn-cs"/>
            </a:endParaRPr>
          </a:p>
        </p:txBody>
      </p:sp>
      <p:cxnSp>
        <p:nvCxnSpPr>
          <p:cNvPr id="15" name="Straight Connector 14">
            <a:extLst>
              <a:ext uri="{FF2B5EF4-FFF2-40B4-BE49-F238E27FC236}">
                <a16:creationId xmlns:a16="http://schemas.microsoft.com/office/drawing/2014/main" id="{9276DD21-18B0-2BF2-5C5E-37DDD79E8F6D}"/>
              </a:ext>
              <a:ext uri="{C183D7F6-B498-43B3-948B-1728B52AA6E4}">
                <adec:decorative xmlns:adec="http://schemas.microsoft.com/office/drawing/2017/decorative" val="1"/>
              </a:ext>
            </a:extLst>
          </p:cNvPr>
          <p:cNvCxnSpPr>
            <a:cxnSpLocks/>
          </p:cNvCxnSpPr>
          <p:nvPr/>
        </p:nvCxnSpPr>
        <p:spPr>
          <a:xfrm>
            <a:off x="457200" y="2592977"/>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1559-F009-494B-2C5B-0832F12E00CC}"/>
              </a:ext>
            </a:extLst>
          </p:cNvPr>
          <p:cNvSpPr>
            <a:spLocks noGrp="1"/>
          </p:cNvSpPr>
          <p:nvPr>
            <p:ph type="title"/>
          </p:nvPr>
        </p:nvSpPr>
        <p:spPr/>
        <p:txBody>
          <a:bodyPr>
            <a:normAutofit/>
          </a:bodyPr>
          <a:lstStyle/>
          <a:p>
            <a:r>
              <a:rPr lang="en-US" sz="4000" dirty="0"/>
              <a:t>Analysis Workflow</a:t>
            </a:r>
          </a:p>
        </p:txBody>
      </p:sp>
      <p:sp>
        <p:nvSpPr>
          <p:cNvPr id="3" name="Text Placeholder 2">
            <a:extLst>
              <a:ext uri="{FF2B5EF4-FFF2-40B4-BE49-F238E27FC236}">
                <a16:creationId xmlns:a16="http://schemas.microsoft.com/office/drawing/2014/main" id="{1EFFE4B3-8B0D-AD20-8633-C732BCBEEEFB}"/>
              </a:ext>
            </a:extLst>
          </p:cNvPr>
          <p:cNvSpPr>
            <a:spLocks noGrp="1"/>
          </p:cNvSpPr>
          <p:nvPr>
            <p:ph type="body" sz="quarter" idx="13"/>
          </p:nvPr>
        </p:nvSpPr>
        <p:spPr/>
        <p:txBody>
          <a:bodyPr/>
          <a:lstStyle/>
          <a:p>
            <a:r>
              <a:rPr lang="en-US" dirty="0"/>
              <a:t>Preview</a:t>
            </a:r>
          </a:p>
        </p:txBody>
      </p:sp>
      <p:sp>
        <p:nvSpPr>
          <p:cNvPr id="5" name="Text Placeholder 4">
            <a:extLst>
              <a:ext uri="{FF2B5EF4-FFF2-40B4-BE49-F238E27FC236}">
                <a16:creationId xmlns:a16="http://schemas.microsoft.com/office/drawing/2014/main" id="{E1477990-D111-82E2-F6A7-9166130E9FAD}"/>
              </a:ext>
            </a:extLst>
          </p:cNvPr>
          <p:cNvSpPr>
            <a:spLocks noGrp="1"/>
          </p:cNvSpPr>
          <p:nvPr>
            <p:ph type="body" sz="quarter" idx="15"/>
          </p:nvPr>
        </p:nvSpPr>
        <p:spPr/>
        <p:txBody>
          <a:bodyPr/>
          <a:lstStyle/>
          <a:p>
            <a:r>
              <a:rPr lang="en-US" dirty="0"/>
              <a:t>LOAD DATA</a:t>
            </a:r>
          </a:p>
        </p:txBody>
      </p:sp>
      <p:sp>
        <p:nvSpPr>
          <p:cNvPr id="6" name="Text Placeholder 5">
            <a:extLst>
              <a:ext uri="{FF2B5EF4-FFF2-40B4-BE49-F238E27FC236}">
                <a16:creationId xmlns:a16="http://schemas.microsoft.com/office/drawing/2014/main" id="{F20ABEC6-3BC5-0340-09AF-E9596906081B}"/>
              </a:ext>
            </a:extLst>
          </p:cNvPr>
          <p:cNvSpPr>
            <a:spLocks noGrp="1"/>
          </p:cNvSpPr>
          <p:nvPr>
            <p:ph type="body" sz="quarter" idx="20"/>
          </p:nvPr>
        </p:nvSpPr>
        <p:spPr>
          <a:xfrm>
            <a:off x="618743" y="3249605"/>
            <a:ext cx="2168791" cy="778652"/>
          </a:xfrm>
        </p:spPr>
        <p:txBody>
          <a:bodyPr/>
          <a:lstStyle/>
          <a:p>
            <a:pPr>
              <a:lnSpc>
                <a:spcPct val="100000"/>
              </a:lnSpc>
            </a:pPr>
            <a:r>
              <a:rPr lang="en-US" dirty="0" err="1"/>
              <a:t>pd.read_csv</a:t>
            </a:r>
            <a:r>
              <a:rPr lang="en-US" dirty="0"/>
              <a:t>()   5 CSV files</a:t>
            </a:r>
          </a:p>
          <a:p>
            <a:pPr>
              <a:lnSpc>
                <a:spcPct val="100000"/>
              </a:lnSpc>
            </a:pPr>
            <a:r>
              <a:rPr lang="en-US" dirty="0"/>
              <a:t>.info()                 Sep=‘|’</a:t>
            </a:r>
          </a:p>
          <a:p>
            <a:pPr>
              <a:lnSpc>
                <a:spcPct val="100000"/>
              </a:lnSpc>
            </a:pPr>
            <a:r>
              <a:rPr lang="en-US" dirty="0"/>
              <a:t>.head()</a:t>
            </a:r>
          </a:p>
        </p:txBody>
      </p:sp>
      <p:sp>
        <p:nvSpPr>
          <p:cNvPr id="7" name="Text Placeholder 6">
            <a:extLst>
              <a:ext uri="{FF2B5EF4-FFF2-40B4-BE49-F238E27FC236}">
                <a16:creationId xmlns:a16="http://schemas.microsoft.com/office/drawing/2014/main" id="{7F9F1862-8B01-32C6-96BF-DC66A8C883C5}"/>
              </a:ext>
            </a:extLst>
          </p:cNvPr>
          <p:cNvSpPr>
            <a:spLocks noGrp="1"/>
          </p:cNvSpPr>
          <p:nvPr>
            <p:ph type="body" sz="quarter" idx="25"/>
          </p:nvPr>
        </p:nvSpPr>
        <p:spPr/>
        <p:txBody>
          <a:bodyPr/>
          <a:lstStyle/>
          <a:p>
            <a:r>
              <a:rPr lang="en-US" dirty="0"/>
              <a:t>335k</a:t>
            </a:r>
          </a:p>
        </p:txBody>
      </p:sp>
      <p:pic>
        <p:nvPicPr>
          <p:cNvPr id="40" name="Picture Placeholder 39" descr="Database with solid fill">
            <a:extLst>
              <a:ext uri="{FF2B5EF4-FFF2-40B4-BE49-F238E27FC236}">
                <a16:creationId xmlns:a16="http://schemas.microsoft.com/office/drawing/2014/main" id="{4545439A-7899-4351-25AF-6DA0083F4F0D}"/>
              </a:ext>
            </a:extLst>
          </p:cNvPr>
          <p:cNvPicPr>
            <a:picLocks noGrp="1" noChangeAspect="1"/>
          </p:cNvPicPr>
          <p:nvPr>
            <p:ph type="pic" sz="quarter" idx="35"/>
          </p:nvPr>
        </p:nvPicPr>
        <p:blipFill>
          <a:blip>
            <a:extLst>
              <a:ext uri="{96DAC541-7B7A-43D3-8B79-37D633B846F1}">
                <asvg:svgBlip xmlns:asvg="http://schemas.microsoft.com/office/drawing/2016/SVG/main" r:embed="rId3"/>
              </a:ext>
            </a:extLst>
          </a:blip>
          <a:srcRect/>
          <a:stretch/>
        </p:blipFill>
        <p:spPr/>
      </p:pic>
      <p:sp>
        <p:nvSpPr>
          <p:cNvPr id="9" name="Text Placeholder 8">
            <a:extLst>
              <a:ext uri="{FF2B5EF4-FFF2-40B4-BE49-F238E27FC236}">
                <a16:creationId xmlns:a16="http://schemas.microsoft.com/office/drawing/2014/main" id="{1B8B9E69-FE7C-4117-C050-800974235322}"/>
              </a:ext>
            </a:extLst>
          </p:cNvPr>
          <p:cNvSpPr>
            <a:spLocks noGrp="1"/>
          </p:cNvSpPr>
          <p:nvPr>
            <p:ph type="body" sz="quarter" idx="26"/>
          </p:nvPr>
        </p:nvSpPr>
        <p:spPr>
          <a:xfrm>
            <a:off x="670559" y="4894756"/>
            <a:ext cx="1023311" cy="457200"/>
          </a:xfrm>
        </p:spPr>
        <p:txBody>
          <a:bodyPr/>
          <a:lstStyle/>
          <a:p>
            <a:r>
              <a:rPr lang="en-US" dirty="0"/>
              <a:t>Rows</a:t>
            </a:r>
          </a:p>
        </p:txBody>
      </p:sp>
      <p:sp>
        <p:nvSpPr>
          <p:cNvPr id="10" name="Text Placeholder 9">
            <a:extLst>
              <a:ext uri="{FF2B5EF4-FFF2-40B4-BE49-F238E27FC236}">
                <a16:creationId xmlns:a16="http://schemas.microsoft.com/office/drawing/2014/main" id="{1F54D649-F6AF-F5B7-08F6-728B9B1E06AE}"/>
              </a:ext>
            </a:extLst>
          </p:cNvPr>
          <p:cNvSpPr>
            <a:spLocks noGrp="1"/>
          </p:cNvSpPr>
          <p:nvPr>
            <p:ph type="body" sz="quarter" idx="16"/>
          </p:nvPr>
        </p:nvSpPr>
        <p:spPr/>
        <p:txBody>
          <a:bodyPr/>
          <a:lstStyle/>
          <a:p>
            <a:r>
              <a:rPr lang="en-US" dirty="0"/>
              <a:t>CLEAN</a:t>
            </a:r>
          </a:p>
        </p:txBody>
      </p:sp>
      <p:sp>
        <p:nvSpPr>
          <p:cNvPr id="11" name="Text Placeholder 10">
            <a:extLst>
              <a:ext uri="{FF2B5EF4-FFF2-40B4-BE49-F238E27FC236}">
                <a16:creationId xmlns:a16="http://schemas.microsoft.com/office/drawing/2014/main" id="{DD799D63-E225-6C02-82AB-4F5947D272F7}"/>
              </a:ext>
            </a:extLst>
          </p:cNvPr>
          <p:cNvSpPr>
            <a:spLocks noGrp="1"/>
          </p:cNvSpPr>
          <p:nvPr>
            <p:ph type="body" sz="quarter" idx="21"/>
          </p:nvPr>
        </p:nvSpPr>
        <p:spPr>
          <a:xfrm>
            <a:off x="2956560" y="3282275"/>
            <a:ext cx="1996440" cy="778652"/>
          </a:xfrm>
        </p:spPr>
        <p:txBody>
          <a:bodyPr/>
          <a:lstStyle/>
          <a:p>
            <a:r>
              <a:rPr lang="en-US" dirty="0" err="1"/>
              <a:t>pd.to_datetime</a:t>
            </a:r>
            <a:r>
              <a:rPr lang="en-US" dirty="0"/>
              <a:t>()</a:t>
            </a:r>
          </a:p>
          <a:p>
            <a:r>
              <a:rPr lang="en-US" dirty="0"/>
              <a:t>.</a:t>
            </a:r>
            <a:r>
              <a:rPr lang="en-US" dirty="0" err="1"/>
              <a:t>dt.to_period</a:t>
            </a:r>
            <a:r>
              <a:rPr lang="en-US" dirty="0"/>
              <a:t>(‘M’)</a:t>
            </a:r>
          </a:p>
          <a:p>
            <a:r>
              <a:rPr lang="en-US" dirty="0"/>
              <a:t>0 duplicates</a:t>
            </a:r>
          </a:p>
          <a:p>
            <a:r>
              <a:rPr lang="en-US" dirty="0"/>
              <a:t>0 anomalies</a:t>
            </a:r>
          </a:p>
        </p:txBody>
      </p:sp>
      <p:sp>
        <p:nvSpPr>
          <p:cNvPr id="12" name="Text Placeholder 11">
            <a:extLst>
              <a:ext uri="{FF2B5EF4-FFF2-40B4-BE49-F238E27FC236}">
                <a16:creationId xmlns:a16="http://schemas.microsoft.com/office/drawing/2014/main" id="{710241DB-E0DB-4CA6-F4A2-242C63EFC084}"/>
              </a:ext>
            </a:extLst>
          </p:cNvPr>
          <p:cNvSpPr>
            <a:spLocks noGrp="1"/>
          </p:cNvSpPr>
          <p:nvPr>
            <p:ph type="body" sz="quarter" idx="27"/>
          </p:nvPr>
        </p:nvSpPr>
        <p:spPr/>
        <p:txBody>
          <a:bodyPr/>
          <a:lstStyle/>
          <a:p>
            <a:r>
              <a:rPr lang="en-US" dirty="0"/>
              <a:t>48</a:t>
            </a:r>
          </a:p>
        </p:txBody>
      </p:sp>
      <p:pic>
        <p:nvPicPr>
          <p:cNvPr id="42" name="Picture Placeholder 41" descr="Mop and bucket with solid fill">
            <a:extLst>
              <a:ext uri="{FF2B5EF4-FFF2-40B4-BE49-F238E27FC236}">
                <a16:creationId xmlns:a16="http://schemas.microsoft.com/office/drawing/2014/main" id="{3BAB4CDD-03AF-3926-8111-9371F8D40BA3}"/>
              </a:ext>
            </a:extLst>
          </p:cNvPr>
          <p:cNvPicPr>
            <a:picLocks noGrp="1" noChangeAspect="1"/>
          </p:cNvPicPr>
          <p:nvPr>
            <p:ph type="pic" sz="quarter" idx="36"/>
          </p:nvPr>
        </p:nvPicPr>
        <p:blipFill>
          <a:blip>
            <a:extLst>
              <a:ext uri="{96DAC541-7B7A-43D3-8B79-37D633B846F1}">
                <asvg:svgBlip xmlns:asvg="http://schemas.microsoft.com/office/drawing/2016/SVG/main" r:embed="rId4"/>
              </a:ext>
            </a:extLst>
          </a:blip>
          <a:srcRect/>
          <a:stretch/>
        </p:blipFill>
        <p:spPr/>
      </p:pic>
      <p:sp>
        <p:nvSpPr>
          <p:cNvPr id="14" name="Text Placeholder 13">
            <a:extLst>
              <a:ext uri="{FF2B5EF4-FFF2-40B4-BE49-F238E27FC236}">
                <a16:creationId xmlns:a16="http://schemas.microsoft.com/office/drawing/2014/main" id="{B1595147-9F75-EE4A-CED7-5B1FA0B5B150}"/>
              </a:ext>
            </a:extLst>
          </p:cNvPr>
          <p:cNvSpPr>
            <a:spLocks noGrp="1"/>
          </p:cNvSpPr>
          <p:nvPr>
            <p:ph type="body" sz="quarter" idx="28"/>
          </p:nvPr>
        </p:nvSpPr>
        <p:spPr/>
        <p:txBody>
          <a:bodyPr/>
          <a:lstStyle/>
          <a:p>
            <a:r>
              <a:rPr lang="en-US" dirty="0"/>
              <a:t>Months</a:t>
            </a:r>
          </a:p>
        </p:txBody>
      </p:sp>
      <p:sp>
        <p:nvSpPr>
          <p:cNvPr id="15" name="Text Placeholder 14">
            <a:extLst>
              <a:ext uri="{FF2B5EF4-FFF2-40B4-BE49-F238E27FC236}">
                <a16:creationId xmlns:a16="http://schemas.microsoft.com/office/drawing/2014/main" id="{DF951656-FF0B-394C-ABB2-9D15706CCB00}"/>
              </a:ext>
            </a:extLst>
          </p:cNvPr>
          <p:cNvSpPr>
            <a:spLocks noGrp="1"/>
          </p:cNvSpPr>
          <p:nvPr>
            <p:ph type="body" sz="quarter" idx="17"/>
          </p:nvPr>
        </p:nvSpPr>
        <p:spPr/>
        <p:txBody>
          <a:bodyPr/>
          <a:lstStyle/>
          <a:p>
            <a:r>
              <a:rPr lang="en-US" dirty="0"/>
              <a:t>ANALYZE</a:t>
            </a:r>
          </a:p>
        </p:txBody>
      </p:sp>
      <p:sp>
        <p:nvSpPr>
          <p:cNvPr id="16" name="Text Placeholder 15">
            <a:extLst>
              <a:ext uri="{FF2B5EF4-FFF2-40B4-BE49-F238E27FC236}">
                <a16:creationId xmlns:a16="http://schemas.microsoft.com/office/drawing/2014/main" id="{8926DE06-DDFC-DDB4-B05F-4BCB9CC8E442}"/>
              </a:ext>
            </a:extLst>
          </p:cNvPr>
          <p:cNvSpPr>
            <a:spLocks noGrp="1"/>
          </p:cNvSpPr>
          <p:nvPr>
            <p:ph type="body" sz="quarter" idx="22"/>
          </p:nvPr>
        </p:nvSpPr>
        <p:spPr>
          <a:xfrm>
            <a:off x="5050536" y="3200324"/>
            <a:ext cx="1996440" cy="778652"/>
          </a:xfrm>
        </p:spPr>
        <p:txBody>
          <a:bodyPr/>
          <a:lstStyle/>
          <a:p>
            <a:r>
              <a:rPr lang="en-US" dirty="0"/>
              <a:t>.</a:t>
            </a:r>
            <a:r>
              <a:rPr lang="en-US" dirty="0" err="1"/>
              <a:t>groupby</a:t>
            </a:r>
            <a:r>
              <a:rPr lang="en-US" dirty="0"/>
              <a:t>()</a:t>
            </a:r>
          </a:p>
          <a:p>
            <a:r>
              <a:rPr lang="en-US" dirty="0"/>
              <a:t>.merge()</a:t>
            </a:r>
          </a:p>
          <a:p>
            <a:r>
              <a:rPr lang="en-US" dirty="0"/>
              <a:t>.</a:t>
            </a:r>
            <a:r>
              <a:rPr lang="en-US" dirty="0" err="1"/>
              <a:t>agg</a:t>
            </a:r>
            <a:r>
              <a:rPr lang="en-US" dirty="0"/>
              <a:t>()</a:t>
            </a:r>
          </a:p>
          <a:p>
            <a:r>
              <a:rPr lang="en-US" dirty="0" err="1"/>
              <a:t>pd.pivot_table</a:t>
            </a:r>
            <a:endParaRPr lang="en-US" dirty="0"/>
          </a:p>
        </p:txBody>
      </p:sp>
      <p:sp>
        <p:nvSpPr>
          <p:cNvPr id="17" name="Text Placeholder 16">
            <a:extLst>
              <a:ext uri="{FF2B5EF4-FFF2-40B4-BE49-F238E27FC236}">
                <a16:creationId xmlns:a16="http://schemas.microsoft.com/office/drawing/2014/main" id="{917B636D-4A84-527E-BBC2-0A72286791A7}"/>
              </a:ext>
            </a:extLst>
          </p:cNvPr>
          <p:cNvSpPr>
            <a:spLocks noGrp="1"/>
          </p:cNvSpPr>
          <p:nvPr>
            <p:ph type="body" sz="quarter" idx="29"/>
          </p:nvPr>
        </p:nvSpPr>
        <p:spPr>
          <a:xfrm>
            <a:off x="5042154" y="4454955"/>
            <a:ext cx="1030224" cy="335470"/>
          </a:xfrm>
        </p:spPr>
        <p:txBody>
          <a:bodyPr/>
          <a:lstStyle/>
          <a:p>
            <a:r>
              <a:rPr lang="en-US" dirty="0"/>
              <a:t>Q1-q5</a:t>
            </a:r>
          </a:p>
        </p:txBody>
      </p:sp>
      <p:pic>
        <p:nvPicPr>
          <p:cNvPr id="44" name="Picture Placeholder 43" descr="Clipboard with solid fill">
            <a:extLst>
              <a:ext uri="{FF2B5EF4-FFF2-40B4-BE49-F238E27FC236}">
                <a16:creationId xmlns:a16="http://schemas.microsoft.com/office/drawing/2014/main" id="{EAB43372-07D0-D67B-2945-F6C5C2B67C72}"/>
              </a:ext>
            </a:extLst>
          </p:cNvPr>
          <p:cNvPicPr>
            <a:picLocks noGrp="1" noChangeAspect="1"/>
          </p:cNvPicPr>
          <p:nvPr>
            <p:ph type="pic" sz="quarter" idx="37"/>
          </p:nvPr>
        </p:nvPicPr>
        <p:blipFill>
          <a:blip>
            <a:extLst>
              <a:ext uri="{96DAC541-7B7A-43D3-8B79-37D633B846F1}">
                <asvg:svgBlip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964DF23-B622-0C9A-8993-B731BCB1966F}"/>
              </a:ext>
            </a:extLst>
          </p:cNvPr>
          <p:cNvSpPr>
            <a:spLocks noGrp="1"/>
          </p:cNvSpPr>
          <p:nvPr>
            <p:ph type="body" sz="quarter" idx="18"/>
          </p:nvPr>
        </p:nvSpPr>
        <p:spPr/>
        <p:txBody>
          <a:bodyPr/>
          <a:lstStyle/>
          <a:p>
            <a:r>
              <a:rPr lang="en-US" dirty="0"/>
              <a:t>VISUALIZE</a:t>
            </a:r>
          </a:p>
        </p:txBody>
      </p:sp>
      <p:sp>
        <p:nvSpPr>
          <p:cNvPr id="21" name="Text Placeholder 20">
            <a:extLst>
              <a:ext uri="{FF2B5EF4-FFF2-40B4-BE49-F238E27FC236}">
                <a16:creationId xmlns:a16="http://schemas.microsoft.com/office/drawing/2014/main" id="{90D97E63-3F48-71B9-F419-BDD1837406C6}"/>
              </a:ext>
            </a:extLst>
          </p:cNvPr>
          <p:cNvSpPr>
            <a:spLocks noGrp="1"/>
          </p:cNvSpPr>
          <p:nvPr>
            <p:ph type="body" sz="quarter" idx="23"/>
          </p:nvPr>
        </p:nvSpPr>
        <p:spPr>
          <a:xfrm>
            <a:off x="7298816" y="3249605"/>
            <a:ext cx="1996440" cy="778652"/>
          </a:xfrm>
        </p:spPr>
        <p:txBody>
          <a:bodyPr/>
          <a:lstStyle/>
          <a:p>
            <a:r>
              <a:rPr lang="en-US" dirty="0"/>
              <a:t>Line Chart + Regression</a:t>
            </a:r>
          </a:p>
          <a:p>
            <a:r>
              <a:rPr lang="en-US" dirty="0"/>
              <a:t>Horizontal Bar</a:t>
            </a:r>
          </a:p>
          <a:p>
            <a:r>
              <a:rPr lang="en-US" dirty="0"/>
              <a:t>Grouped Bar</a:t>
            </a:r>
          </a:p>
        </p:txBody>
      </p:sp>
      <p:sp>
        <p:nvSpPr>
          <p:cNvPr id="22" name="Text Placeholder 21">
            <a:extLst>
              <a:ext uri="{FF2B5EF4-FFF2-40B4-BE49-F238E27FC236}">
                <a16:creationId xmlns:a16="http://schemas.microsoft.com/office/drawing/2014/main" id="{9DE14634-9FF6-31FC-C885-CB57DE210249}"/>
              </a:ext>
            </a:extLst>
          </p:cNvPr>
          <p:cNvSpPr>
            <a:spLocks noGrp="1"/>
          </p:cNvSpPr>
          <p:nvPr>
            <p:ph type="body" sz="quarter" idx="31"/>
          </p:nvPr>
        </p:nvSpPr>
        <p:spPr/>
        <p:txBody>
          <a:bodyPr/>
          <a:lstStyle/>
          <a:p>
            <a:r>
              <a:rPr lang="en-US" dirty="0"/>
              <a:t>4</a:t>
            </a:r>
          </a:p>
        </p:txBody>
      </p:sp>
      <p:pic>
        <p:nvPicPr>
          <p:cNvPr id="46" name="Picture Placeholder 45" descr="Upward trend with solid fill">
            <a:extLst>
              <a:ext uri="{FF2B5EF4-FFF2-40B4-BE49-F238E27FC236}">
                <a16:creationId xmlns:a16="http://schemas.microsoft.com/office/drawing/2014/main" id="{910406EB-9064-981B-8526-2DE7A4FF8447}"/>
              </a:ext>
            </a:extLst>
          </p:cNvPr>
          <p:cNvPicPr>
            <a:picLocks noGrp="1" noChangeAspect="1"/>
          </p:cNvPicPr>
          <p:nvPr>
            <p:ph type="pic" sz="quarter" idx="38"/>
          </p:nvPr>
        </p:nvPicPr>
        <p:blipFill>
          <a:blip>
            <a:extLst>
              <a:ext uri="{96DAC541-7B7A-43D3-8B79-37D633B846F1}">
                <asvg:svgBlip xmlns:asvg="http://schemas.microsoft.com/office/drawing/2016/SVG/main" r:embed="rId6"/>
              </a:ext>
            </a:extLst>
          </a:blip>
          <a:srcRect/>
          <a:stretch>
            <a:fillRect/>
          </a:stretch>
        </p:blipFill>
        <p:spPr/>
      </p:pic>
      <p:sp>
        <p:nvSpPr>
          <p:cNvPr id="24" name="Text Placeholder 23">
            <a:extLst>
              <a:ext uri="{FF2B5EF4-FFF2-40B4-BE49-F238E27FC236}">
                <a16:creationId xmlns:a16="http://schemas.microsoft.com/office/drawing/2014/main" id="{B9136DF5-F235-12A7-B3CE-68E5DE9C9648}"/>
              </a:ext>
            </a:extLst>
          </p:cNvPr>
          <p:cNvSpPr>
            <a:spLocks noGrp="1"/>
          </p:cNvSpPr>
          <p:nvPr>
            <p:ph type="body" sz="quarter" idx="32"/>
          </p:nvPr>
        </p:nvSpPr>
        <p:spPr/>
        <p:txBody>
          <a:bodyPr/>
          <a:lstStyle/>
          <a:p>
            <a:r>
              <a:rPr lang="en-US" dirty="0"/>
              <a:t>Charts</a:t>
            </a:r>
          </a:p>
        </p:txBody>
      </p:sp>
      <p:sp>
        <p:nvSpPr>
          <p:cNvPr id="25" name="Text Placeholder 24">
            <a:extLst>
              <a:ext uri="{FF2B5EF4-FFF2-40B4-BE49-F238E27FC236}">
                <a16:creationId xmlns:a16="http://schemas.microsoft.com/office/drawing/2014/main" id="{F65779F7-28B1-998A-81DA-65486D460699}"/>
              </a:ext>
            </a:extLst>
          </p:cNvPr>
          <p:cNvSpPr>
            <a:spLocks noGrp="1"/>
          </p:cNvSpPr>
          <p:nvPr>
            <p:ph type="body" sz="quarter" idx="19"/>
          </p:nvPr>
        </p:nvSpPr>
        <p:spPr>
          <a:xfrm>
            <a:off x="9427463" y="2556796"/>
            <a:ext cx="2270325" cy="381190"/>
          </a:xfrm>
        </p:spPr>
        <p:txBody>
          <a:bodyPr/>
          <a:lstStyle/>
          <a:p>
            <a:r>
              <a:rPr lang="en-US" dirty="0" err="1"/>
              <a:t>RECOMMenD</a:t>
            </a:r>
            <a:endParaRPr lang="en-US" dirty="0"/>
          </a:p>
        </p:txBody>
      </p:sp>
      <p:sp>
        <p:nvSpPr>
          <p:cNvPr id="26" name="Text Placeholder 25">
            <a:extLst>
              <a:ext uri="{FF2B5EF4-FFF2-40B4-BE49-F238E27FC236}">
                <a16:creationId xmlns:a16="http://schemas.microsoft.com/office/drawing/2014/main" id="{7AD23EDF-26BB-D422-D3B7-7359B62131F0}"/>
              </a:ext>
            </a:extLst>
          </p:cNvPr>
          <p:cNvSpPr>
            <a:spLocks noGrp="1"/>
          </p:cNvSpPr>
          <p:nvPr>
            <p:ph type="body" sz="quarter" idx="24"/>
          </p:nvPr>
        </p:nvSpPr>
        <p:spPr>
          <a:xfrm>
            <a:off x="9489566" y="3243828"/>
            <a:ext cx="1996440" cy="778652"/>
          </a:xfrm>
        </p:spPr>
        <p:txBody>
          <a:bodyPr/>
          <a:lstStyle/>
          <a:p>
            <a:r>
              <a:rPr lang="en-US" dirty="0"/>
              <a:t>Q6 Product Strategies</a:t>
            </a:r>
          </a:p>
          <a:p>
            <a:r>
              <a:rPr lang="en-US" dirty="0"/>
              <a:t>Customer Retention </a:t>
            </a:r>
          </a:p>
          <a:p>
            <a:r>
              <a:rPr lang="en-US" dirty="0"/>
              <a:t>Store Audits</a:t>
            </a:r>
          </a:p>
        </p:txBody>
      </p:sp>
      <p:sp>
        <p:nvSpPr>
          <p:cNvPr id="27" name="Text Placeholder 26">
            <a:extLst>
              <a:ext uri="{FF2B5EF4-FFF2-40B4-BE49-F238E27FC236}">
                <a16:creationId xmlns:a16="http://schemas.microsoft.com/office/drawing/2014/main" id="{6C5AEE7D-8DA1-5EF1-26CD-9739C610CEB9}"/>
              </a:ext>
            </a:extLst>
          </p:cNvPr>
          <p:cNvSpPr>
            <a:spLocks noGrp="1"/>
          </p:cNvSpPr>
          <p:nvPr>
            <p:ph type="body" sz="quarter" idx="33"/>
          </p:nvPr>
        </p:nvSpPr>
        <p:spPr>
          <a:xfrm>
            <a:off x="9295256" y="4505738"/>
            <a:ext cx="1168908" cy="335470"/>
          </a:xfrm>
        </p:spPr>
        <p:txBody>
          <a:bodyPr/>
          <a:lstStyle/>
          <a:p>
            <a:r>
              <a:rPr lang="en-US" sz="1800" dirty="0"/>
              <a:t>Q1 2026</a:t>
            </a:r>
          </a:p>
        </p:txBody>
      </p:sp>
      <p:pic>
        <p:nvPicPr>
          <p:cNvPr id="48" name="Picture Placeholder 47" descr="Bullseye with solid fill">
            <a:extLst>
              <a:ext uri="{FF2B5EF4-FFF2-40B4-BE49-F238E27FC236}">
                <a16:creationId xmlns:a16="http://schemas.microsoft.com/office/drawing/2014/main" id="{712FE3A6-925D-8CDE-67ED-77C939DF2DF4}"/>
              </a:ext>
            </a:extLst>
          </p:cNvPr>
          <p:cNvPicPr>
            <a:picLocks noGrp="1" noChangeAspect="1"/>
          </p:cNvPicPr>
          <p:nvPr>
            <p:ph type="pic" sz="quarter" idx="39"/>
          </p:nvPr>
        </p:nvPicPr>
        <p:blipFill>
          <a:blip>
            <a:extLst>
              <a:ext uri="{96DAC541-7B7A-43D3-8B79-37D633B846F1}">
                <asvg:svgBlip xmlns:asvg="http://schemas.microsoft.com/office/drawing/2016/SVG/main" r:embed="rId7"/>
              </a:ext>
            </a:extLst>
          </a:blip>
          <a:srcRect/>
          <a:stretch>
            <a:fillRect/>
          </a:stretch>
        </p:blipFill>
        <p:spPr/>
      </p:pic>
      <p:sp>
        <p:nvSpPr>
          <p:cNvPr id="29" name="Text Placeholder 28">
            <a:extLst>
              <a:ext uri="{FF2B5EF4-FFF2-40B4-BE49-F238E27FC236}">
                <a16:creationId xmlns:a16="http://schemas.microsoft.com/office/drawing/2014/main" id="{A395A8D7-26D4-E231-2FDB-FD1A54E7FB15}"/>
              </a:ext>
            </a:extLst>
          </p:cNvPr>
          <p:cNvSpPr>
            <a:spLocks noGrp="1"/>
          </p:cNvSpPr>
          <p:nvPr>
            <p:ph type="body" sz="quarter" idx="34"/>
          </p:nvPr>
        </p:nvSpPr>
        <p:spPr>
          <a:xfrm>
            <a:off x="9318553" y="4902707"/>
            <a:ext cx="1150238" cy="335470"/>
          </a:xfrm>
        </p:spPr>
        <p:txBody>
          <a:bodyPr/>
          <a:lstStyle/>
          <a:p>
            <a:r>
              <a:rPr lang="en-US" sz="1200" dirty="0"/>
              <a:t>First Quarter Focus</a:t>
            </a:r>
          </a:p>
        </p:txBody>
      </p:sp>
      <p:pic>
        <p:nvPicPr>
          <p:cNvPr id="37" name="Picture Placeholder 36" descr="Research outline">
            <a:extLst>
              <a:ext uri="{FF2B5EF4-FFF2-40B4-BE49-F238E27FC236}">
                <a16:creationId xmlns:a16="http://schemas.microsoft.com/office/drawing/2014/main" id="{997809D3-44E7-4BD0-0EAA-71A64022C315}"/>
              </a:ext>
            </a:extLst>
          </p:cNvPr>
          <p:cNvPicPr>
            <a:picLocks noGrp="1" noChangeAspect="1"/>
          </p:cNvPicPr>
          <p:nvPr>
            <p:ph type="pic" sz="quarter" idx="14"/>
          </p:nvPr>
        </p:nvPicPr>
        <p:blipFill>
          <a:blip>
            <a:extLst>
              <a:ext uri="{96DAC541-7B7A-43D3-8B79-37D633B846F1}">
                <asvg:svgBlip xmlns:asvg="http://schemas.microsoft.com/office/drawing/2016/SVG/main" r:embed="rId8"/>
              </a:ext>
            </a:extLst>
          </a:blip>
          <a:srcRect t="96" b="96"/>
          <a:stretch>
            <a:fillRect/>
          </a:stretch>
        </p:blipFill>
        <p:spPr/>
      </p:pic>
      <p:cxnSp>
        <p:nvCxnSpPr>
          <p:cNvPr id="35" name="Straight Connector 34">
            <a:extLst>
              <a:ext uri="{FF2B5EF4-FFF2-40B4-BE49-F238E27FC236}">
                <a16:creationId xmlns:a16="http://schemas.microsoft.com/office/drawing/2014/main" id="{2CDA1692-F6A6-5B80-8860-7D45CDDE6425}"/>
              </a:ext>
              <a:ext uri="{C183D7F6-B498-43B3-948B-1728B52AA6E4}">
                <adec:decorative xmlns:adec="http://schemas.microsoft.com/office/drawing/2017/decorative" val="1"/>
              </a:ext>
            </a:extLst>
          </p:cNvPr>
          <p:cNvCxnSpPr>
            <a:cxnSpLocks/>
          </p:cNvCxnSpPr>
          <p:nvPr/>
        </p:nvCxnSpPr>
        <p:spPr>
          <a:xfrm>
            <a:off x="2199568" y="1475740"/>
            <a:ext cx="3291058"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38" name="Text Placeholder 13">
            <a:extLst>
              <a:ext uri="{FF2B5EF4-FFF2-40B4-BE49-F238E27FC236}">
                <a16:creationId xmlns:a16="http://schemas.microsoft.com/office/drawing/2014/main" id="{CB7AE664-C019-7B64-E734-E24B0AF2F93F}"/>
              </a:ext>
            </a:extLst>
          </p:cNvPr>
          <p:cNvSpPr txBox="1">
            <a:spLocks/>
          </p:cNvSpPr>
          <p:nvPr/>
        </p:nvSpPr>
        <p:spPr>
          <a:xfrm>
            <a:off x="5101400" y="4841812"/>
            <a:ext cx="893064" cy="335470"/>
          </a:xfrm>
          <a:prstGeom prst="rect">
            <a:avLst/>
          </a:prstGeom>
        </p:spPr>
        <p:txBody>
          <a:bodyPr vert="horz" lIns="91440" tIns="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cap="none" baseline="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Key Insights</a:t>
            </a:r>
          </a:p>
        </p:txBody>
      </p:sp>
    </p:spTree>
    <p:extLst>
      <p:ext uri="{BB962C8B-B14F-4D97-AF65-F5344CB8AC3E}">
        <p14:creationId xmlns:p14="http://schemas.microsoft.com/office/powerpoint/2010/main" val="3909628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EAF94D0C-DAA8-D6C0-ABF2-4A210E6E828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057308E-E784-9FFA-3A13-E391C97810E2}"/>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Territory Overview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5489C4EC-FBAD-443F-A182-7D7DE8DD9DA8}"/>
              </a:ext>
            </a:extLst>
          </p:cNvPr>
          <p:cNvSpPr/>
          <p:nvPr/>
        </p:nvSpPr>
        <p:spPr>
          <a:xfrm>
            <a:off x="365760" y="1298448"/>
            <a:ext cx="5541264" cy="2751037"/>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E5518FAE-B6F6-9515-AD81-4CC77936F1DE}"/>
              </a:ext>
            </a:extLst>
          </p:cNvPr>
          <p:cNvSpPr/>
          <p:nvPr/>
        </p:nvSpPr>
        <p:spPr>
          <a:xfrm>
            <a:off x="6272784" y="1298448"/>
            <a:ext cx="5550408" cy="2751035"/>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21DA6245-6BE3-9AB3-3E1E-34557F8D4EEC}"/>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3AEB1298-15C7-B0B5-2A6C-74317F72EA64}"/>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3" name="Shape 9">
            <a:extLst>
              <a:ext uri="{FF2B5EF4-FFF2-40B4-BE49-F238E27FC236}">
                <a16:creationId xmlns:a16="http://schemas.microsoft.com/office/drawing/2014/main" id="{40832792-1B7F-C52B-809B-3122E130EE01}"/>
              </a:ext>
            </a:extLst>
          </p:cNvPr>
          <p:cNvSpPr/>
          <p:nvPr/>
        </p:nvSpPr>
        <p:spPr>
          <a:xfrm>
            <a:off x="365760" y="1298448"/>
            <a:ext cx="5541264" cy="457200"/>
          </a:xfrm>
          <a:prstGeom prst="rect">
            <a:avLst/>
          </a:prstGeom>
          <a:solidFill>
            <a:srgbClr val="EDB0BC"/>
          </a:solidFill>
          <a:ln w="12700">
            <a:solidFill>
              <a:srgbClr val="EDB0BC"/>
            </a:solidFill>
            <a:prstDash val="soli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  TEXAS  —  South Region</a:t>
            </a:r>
            <a:endParaRPr kumimoji="0" lang="en-US" sz="16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8" name="Shape 22">
            <a:extLst>
              <a:ext uri="{FF2B5EF4-FFF2-40B4-BE49-F238E27FC236}">
                <a16:creationId xmlns:a16="http://schemas.microsoft.com/office/drawing/2014/main" id="{AD4FDD56-910E-3E46-C481-860A12066FC3}"/>
              </a:ext>
            </a:extLst>
          </p:cNvPr>
          <p:cNvSpPr/>
          <p:nvPr/>
        </p:nvSpPr>
        <p:spPr>
          <a:xfrm>
            <a:off x="6281928" y="1298448"/>
            <a:ext cx="5541264" cy="457200"/>
          </a:xfrm>
          <a:prstGeom prst="rect">
            <a:avLst/>
          </a:prstGeom>
          <a:solidFill>
            <a:srgbClr val="89CCFD"/>
          </a:solidFill>
          <a:ln w="12700">
            <a:solidFill>
              <a:srgbClr val="89CCFD"/>
            </a:solidFill>
            <a:prstDash val="soli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  NEW JERSEY  —  Northeast Region</a:t>
            </a:r>
            <a:endParaRPr kumimoji="0" lang="en-US" sz="16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9" name="Shape 0">
            <a:extLst>
              <a:ext uri="{FF2B5EF4-FFF2-40B4-BE49-F238E27FC236}">
                <a16:creationId xmlns:a16="http://schemas.microsoft.com/office/drawing/2014/main" id="{ECBA58C9-EB30-8F24-C48E-44FCFAD0EB77}"/>
              </a:ext>
            </a:extLst>
          </p:cNvPr>
          <p:cNvSpPr/>
          <p:nvPr/>
        </p:nvSpPr>
        <p:spPr>
          <a:xfrm>
            <a:off x="365760" y="164592"/>
            <a:ext cx="2011680" cy="329184"/>
          </a:xfrm>
          <a:prstGeom prst="roundRect">
            <a:avLst>
              <a:gd name="adj" fmla="val 25000"/>
            </a:avLst>
          </a:prstGeom>
          <a:solidFill>
            <a:srgbClr val="FBEBAC"/>
          </a:solidFill>
          <a:ln w="12700">
            <a:solidFill>
              <a:srgbClr val="F4CE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Q1 — TERRITORY</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17" name="TextBox 16">
            <a:extLst>
              <a:ext uri="{FF2B5EF4-FFF2-40B4-BE49-F238E27FC236}">
                <a16:creationId xmlns:a16="http://schemas.microsoft.com/office/drawing/2014/main" id="{7F05D7AC-EBC8-6A0A-8306-DD0BBBD8417D}"/>
              </a:ext>
            </a:extLst>
          </p:cNvPr>
          <p:cNvSpPr txBox="1"/>
          <p:nvPr/>
        </p:nvSpPr>
        <p:spPr>
          <a:xfrm>
            <a:off x="450669" y="1865375"/>
            <a:ext cx="5270862" cy="203132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Territory Manager: </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Jeff "Howdy" Richards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Total Stores: </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11 stores  (Store IDs 901–911)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Store Locations: </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Arlington, Austin, Bacliff, Baytown, Beaumont, Cedar Park, Dallas, Denton, Desoto, Fort Worth, Georgetown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Region:</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 South</a:t>
            </a:r>
          </a:p>
        </p:txBody>
      </p:sp>
      <p:sp>
        <p:nvSpPr>
          <p:cNvPr id="18" name="TextBox 17">
            <a:extLst>
              <a:ext uri="{FF2B5EF4-FFF2-40B4-BE49-F238E27FC236}">
                <a16:creationId xmlns:a16="http://schemas.microsoft.com/office/drawing/2014/main" id="{D8A64438-E06F-AFBC-3A62-FC572BDB94F6}"/>
              </a:ext>
            </a:extLst>
          </p:cNvPr>
          <p:cNvSpPr txBox="1"/>
          <p:nvPr/>
        </p:nvSpPr>
        <p:spPr>
          <a:xfrm>
            <a:off x="6412557" y="1810512"/>
            <a:ext cx="5270862" cy="224676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Territory Manager: </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Miami Vue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Total Stores: </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16 stores  (Store IDs 824-839)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Store Locations: </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Atlantic City, Bayonne, Cape May, Clifton, East Orange, Hackensack, Hoboken, Jersey City, Montclair, Morristown, New Brunswick, Newark, Passaic, Paterson, Trenton, Vineland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venir Next LT Pro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000000"/>
                </a:solidFill>
                <a:effectLst/>
                <a:uLnTx/>
                <a:uFillTx/>
                <a:latin typeface="Avenir Next LT Pro "/>
                <a:ea typeface="+mn-ea"/>
                <a:cs typeface="+mn-cs"/>
              </a:rPr>
              <a:t>Region:</a:t>
            </a:r>
            <a:r>
              <a:rPr kumimoji="0" lang="en-US" sz="1400" b="0" i="0" u="none" strike="noStrike" kern="1200" cap="none" spc="0" normalizeH="0" baseline="0" noProof="0" dirty="0">
                <a:ln>
                  <a:noFill/>
                </a:ln>
                <a:solidFill>
                  <a:srgbClr val="000000"/>
                </a:solidFill>
                <a:effectLst/>
                <a:uLnTx/>
                <a:uFillTx/>
                <a:latin typeface="Avenir Next LT Pro "/>
                <a:ea typeface="+mn-ea"/>
                <a:cs typeface="+mn-cs"/>
              </a:rPr>
              <a:t> Northeast</a:t>
            </a:r>
          </a:p>
        </p:txBody>
      </p:sp>
      <p:sp>
        <p:nvSpPr>
          <p:cNvPr id="19" name="Rectangle: Rounded Corners 18">
            <a:extLst>
              <a:ext uri="{FF2B5EF4-FFF2-40B4-BE49-F238E27FC236}">
                <a16:creationId xmlns:a16="http://schemas.microsoft.com/office/drawing/2014/main" id="{908192EF-F5A2-4EED-0B2F-1DC4071642AA}"/>
              </a:ext>
            </a:extLst>
          </p:cNvPr>
          <p:cNvSpPr/>
          <p:nvPr/>
        </p:nvSpPr>
        <p:spPr>
          <a:xfrm>
            <a:off x="333549" y="4209554"/>
            <a:ext cx="11430000" cy="2092661"/>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venir Next LT Pro "/>
                <a:ea typeface="+mn-ea"/>
                <a:cs typeface="+mn-cs"/>
              </a:rPr>
              <a:t>Getting Results:</a:t>
            </a:r>
            <a:endParaRPr kumimoji="0" lang="en-US" sz="1800" b="0" i="0" u="none" strike="noStrike" kern="1200" cap="none" spc="0" normalizeH="0" baseline="0" noProof="0" dirty="0">
              <a:ln>
                <a:noFill/>
              </a:ln>
              <a:solidFill>
                <a:srgbClr val="FFFFFF"/>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venir Next LT Pro "/>
                <a:ea typeface="+mn-ea"/>
                <a:cs typeface="+mn-cs"/>
              </a:rPr>
              <a:t>Filtered </a:t>
            </a:r>
            <a:r>
              <a:rPr kumimoji="0" lang="en-US" sz="1800" b="0" i="0" u="none" strike="noStrike" kern="1200" cap="none" spc="0" normalizeH="0" baseline="0" noProof="0" dirty="0" err="1">
                <a:ln>
                  <a:noFill/>
                </a:ln>
                <a:solidFill>
                  <a:srgbClr val="FFFFFF"/>
                </a:solidFill>
                <a:effectLst/>
                <a:uLnTx/>
                <a:uFillTx/>
                <a:latin typeface="Avenir Next LT Pro "/>
                <a:ea typeface="+mn-ea"/>
                <a:cs typeface="+mn-cs"/>
              </a:rPr>
              <a:t>store_details</a:t>
            </a:r>
            <a:r>
              <a:rPr kumimoji="0" lang="en-US" sz="1800" b="0" i="0" u="none" strike="noStrike" kern="1200" cap="none" spc="0" normalizeH="0" baseline="0" noProof="0" dirty="0">
                <a:ln>
                  <a:noFill/>
                </a:ln>
                <a:solidFill>
                  <a:srgbClr val="FFFFFF"/>
                </a:solidFill>
                <a:effectLst/>
                <a:uLnTx/>
                <a:uFillTx/>
                <a:latin typeface="Avenir Next LT Pro "/>
                <a:ea typeface="+mn-ea"/>
                <a:cs typeface="+mn-cs"/>
              </a:rPr>
              <a:t> using </a:t>
            </a:r>
            <a:r>
              <a:rPr kumimoji="0" lang="en-US" sz="1800" b="1" i="0" u="none" strike="noStrike" kern="1200" cap="none" spc="0" normalizeH="0" baseline="0" noProof="0" dirty="0">
                <a:ln>
                  <a:noFill/>
                </a:ln>
                <a:solidFill>
                  <a:srgbClr val="FFFFFF"/>
                </a:solidFill>
                <a:effectLst/>
                <a:uLnTx/>
                <a:uFillTx/>
                <a:latin typeface="Avenir Next LT Pro "/>
                <a:ea typeface="+mn-ea"/>
                <a:cs typeface="+mn-cs"/>
              </a:rPr>
              <a:t>.</a:t>
            </a:r>
            <a:r>
              <a:rPr kumimoji="0" lang="en-US" sz="1800" b="1" i="0" u="none" strike="noStrike" kern="1200" cap="none" spc="0" normalizeH="0" baseline="0" noProof="0" dirty="0" err="1">
                <a:ln>
                  <a:noFill/>
                </a:ln>
                <a:solidFill>
                  <a:srgbClr val="FFFFFF"/>
                </a:solidFill>
                <a:effectLst/>
                <a:uLnTx/>
                <a:uFillTx/>
                <a:latin typeface="Avenir Next LT Pro "/>
                <a:ea typeface="+mn-ea"/>
                <a:cs typeface="+mn-cs"/>
              </a:rPr>
              <a:t>isin</a:t>
            </a:r>
            <a:r>
              <a:rPr kumimoji="0" lang="en-US" sz="1800" b="1" i="0" u="none" strike="noStrike" kern="1200" cap="none" spc="0" normalizeH="0" baseline="0" noProof="0" dirty="0">
                <a:ln>
                  <a:noFill/>
                </a:ln>
                <a:solidFill>
                  <a:srgbClr val="FFFFFF"/>
                </a:solidFill>
                <a:effectLst/>
                <a:uLnTx/>
                <a:uFillTx/>
                <a:latin typeface="Avenir Next LT Pro "/>
                <a:ea typeface="+mn-ea"/>
                <a:cs typeface="+mn-cs"/>
              </a:rPr>
              <a:t>(['Texas', 'New Jersey’]) </a:t>
            </a:r>
            <a:r>
              <a:rPr kumimoji="0" lang="en-US" sz="1800" b="0" i="0" u="none" strike="noStrike" kern="1200" cap="none" spc="0" normalizeH="0" baseline="0" noProof="0" dirty="0">
                <a:ln>
                  <a:noFill/>
                </a:ln>
                <a:solidFill>
                  <a:srgbClr val="FFFFFF"/>
                </a:solidFill>
                <a:effectLst/>
                <a:uLnTx/>
                <a:uFillTx/>
                <a:latin typeface="Avenir Next LT Pro "/>
                <a:ea typeface="+mn-ea"/>
                <a:cs typeface="+mn-cs"/>
              </a:rPr>
              <a:t>to isolate assigned territories, then extracted territory managers and store information from rows where the condition was true.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venir Next LT Pro "/>
                <a:ea typeface="+mn-ea"/>
                <a:cs typeface="+mn-cs"/>
              </a:rPr>
              <a:t>Findings: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venir Next LT Pro "/>
                <a:ea typeface="+mn-ea"/>
                <a:cs typeface="+mn-cs"/>
              </a:rPr>
              <a:t>New Jersey operates 5 more stores than Texas, a cross-region difference that will be  a recurring factor throughout the revenue and performance analysis</a:t>
            </a:r>
          </a:p>
        </p:txBody>
      </p:sp>
    </p:spTree>
    <p:extLst>
      <p:ext uri="{BB962C8B-B14F-4D97-AF65-F5344CB8AC3E}">
        <p14:creationId xmlns:p14="http://schemas.microsoft.com/office/powerpoint/2010/main" val="4200903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F83E5D51-F038-69CE-6469-43F096D4276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B786BCE-B7C4-E761-CD11-9A6E9B340B13}"/>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Monthly Territory Revenue Performance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6FAED62-E3D6-02F5-D5DF-0E330345104F}"/>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7AB531B9-B227-6D49-B1FF-02FAF36B9E9F}"/>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61FBABB1-948B-2451-C694-8BAD8FF4D27C}"/>
              </a:ext>
            </a:extLst>
          </p:cNvPr>
          <p:cNvSpPr/>
          <p:nvPr/>
        </p:nvSpPr>
        <p:spPr>
          <a:xfrm>
            <a:off x="365760" y="164592"/>
            <a:ext cx="2011680" cy="329184"/>
          </a:xfrm>
          <a:prstGeom prst="roundRect">
            <a:avLst>
              <a:gd name="adj" fmla="val 25000"/>
            </a:avLst>
          </a:prstGeom>
          <a:solidFill>
            <a:schemeClr val="accent3">
              <a:lumMod val="60000"/>
              <a:lumOff val="40000"/>
            </a:schemeClr>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Q2 — Revenue</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253A6620-5498-F02B-9E4D-B080E97F8E36}"/>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1D68707D-483B-C587-D70C-AE3A295B306F}"/>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01C88E81-FD6E-6EBD-4DF5-F32B366A556B}"/>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07EF1C18-EF1B-D00E-F328-6DA53805F70A}"/>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Picture 10" descr="The image depicts a line chart showing the monthly revenue trend for two territories, New Jersey and Texas, with projected peaks in October 2025.  AI-generated content may be incorrect.">
            <a:extLst>
              <a:ext uri="{FF2B5EF4-FFF2-40B4-BE49-F238E27FC236}">
                <a16:creationId xmlns:a16="http://schemas.microsoft.com/office/drawing/2014/main" id="{CB61C1EE-0406-15FC-1A17-DAEDB76E2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451" y="1370292"/>
            <a:ext cx="6570618" cy="3082943"/>
          </a:xfrm>
          <a:prstGeom prst="rect">
            <a:avLst/>
          </a:prstGeom>
        </p:spPr>
      </p:pic>
      <p:pic>
        <p:nvPicPr>
          <p:cNvPr id="13" name="Picture 12" descr="The provided text describes a data processing workflow where sales data is merged based on shared store IDs, grouped by state and month, and then pivoted for easy comparison and visualization.  AI-generated content may be incorrect.">
            <a:extLst>
              <a:ext uri="{FF2B5EF4-FFF2-40B4-BE49-F238E27FC236}">
                <a16:creationId xmlns:a16="http://schemas.microsoft.com/office/drawing/2014/main" id="{A7EA4A28-709C-DE46-8AAD-0D140F7392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2988" y="1370292"/>
            <a:ext cx="4099561" cy="3032106"/>
          </a:xfrm>
          <a:prstGeom prst="rect">
            <a:avLst/>
          </a:prstGeom>
        </p:spPr>
      </p:pic>
      <p:sp>
        <p:nvSpPr>
          <p:cNvPr id="15" name="Rectangle: Rounded Corners 14">
            <a:extLst>
              <a:ext uri="{FF2B5EF4-FFF2-40B4-BE49-F238E27FC236}">
                <a16:creationId xmlns:a16="http://schemas.microsoft.com/office/drawing/2014/main" id="{5DF57E47-6631-D88A-BF37-B1E663087B81}"/>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venir Next LT Pro "/>
                <a:ea typeface="+mn-ea"/>
                <a:cs typeface="+mn-cs"/>
              </a:rPr>
              <a:t>Getting Results:</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Merged </a:t>
            </a:r>
            <a:r>
              <a:rPr kumimoji="0" lang="en-US" sz="1500" b="0" i="0" u="none" strike="noStrike" kern="1200" cap="none" spc="0" normalizeH="0" baseline="0" noProof="0" dirty="0" err="1">
                <a:ln>
                  <a:noFill/>
                </a:ln>
                <a:solidFill>
                  <a:srgbClr val="FFFFFF"/>
                </a:solidFill>
                <a:effectLst/>
                <a:uLnTx/>
                <a:uFillTx/>
                <a:latin typeface="Avenir Next LT Pro "/>
                <a:ea typeface="+mn-ea"/>
                <a:cs typeface="+mn-cs"/>
              </a:rPr>
              <a:t>store_sales</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with assigned territories on Store ID, grouped by State and </a:t>
            </a:r>
            <a:r>
              <a:rPr kumimoji="0" lang="en-US" sz="1500" b="0" i="0" u="none" strike="noStrike" kern="1200" cap="none" spc="0" normalizeH="0" baseline="0" noProof="0" dirty="0" err="1">
                <a:ln>
                  <a:noFill/>
                </a:ln>
                <a:solidFill>
                  <a:srgbClr val="FFFFFF"/>
                </a:solidFill>
                <a:effectLst/>
                <a:uLnTx/>
                <a:uFillTx/>
                <a:latin typeface="Avenir Next LT Pro "/>
                <a:ea typeface="+mn-ea"/>
                <a:cs typeface="+mn-cs"/>
              </a:rPr>
              <a:t>YearMonth</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then pivoted for side-by-side territory comparison.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FFFFFF"/>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venir Next LT Pro "/>
                <a:ea typeface="+mn-ea"/>
                <a:cs typeface="+mn-cs"/>
              </a:rPr>
              <a:t>Findings:</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New Jersey consistently outperformed Texas across all 48 months. Both territories show an upward trend confirmed by regression lines, with a synchronized peak in October 2025 with NJ at $250,830 and TX at $168,956. Recurring dips during winter months suggest a student consumer base. NJ's regression slope is steeper than Texas, projecting stronger revenue momentum into 2026.</a:t>
            </a:r>
          </a:p>
        </p:txBody>
      </p:sp>
    </p:spTree>
    <p:extLst>
      <p:ext uri="{BB962C8B-B14F-4D97-AF65-F5344CB8AC3E}">
        <p14:creationId xmlns:p14="http://schemas.microsoft.com/office/powerpoint/2010/main" val="4196441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8A679FCE-B8BF-3056-0C2D-8B908D0AD36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B70386F-ACBA-6B08-99A0-627BE738DAEA}"/>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Store Rankings by Territory Sales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7FFC5FE-5691-AE69-95FB-808144AE1281}"/>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05B876ED-146C-88D8-AEE6-6C7524E9DCE2}"/>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6AB3095B-A5D7-A33F-1F48-EDEA775CF8A2}"/>
              </a:ext>
            </a:extLst>
          </p:cNvPr>
          <p:cNvSpPr/>
          <p:nvPr/>
        </p:nvSpPr>
        <p:spPr>
          <a:xfrm>
            <a:off x="365760" y="164592"/>
            <a:ext cx="2011680" cy="329184"/>
          </a:xfrm>
          <a:prstGeom prst="roundRect">
            <a:avLst>
              <a:gd name="adj" fmla="val 25000"/>
            </a:avLst>
          </a:prstGeom>
          <a:solidFill>
            <a:srgbClr val="EDB0BC"/>
          </a:solidFill>
          <a:ln w="12700">
            <a:solidFill>
              <a:srgbClr val="D2395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Q3 — Store Rankings</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7FA4C0C4-C464-42E2-DF08-60D3A083FDA1}"/>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3F3D56C4-A2F2-5B76-211B-95CB10EF4B00}"/>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98A1776F-E3FA-995D-57FD-7F0EC0F72016}"/>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9D2F758C-187E-C0C1-CBCC-E04524129521}"/>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9C1082CE-8E46-3727-AB7F-2AFFCDE965C0}"/>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venir Next LT Pro "/>
                <a:ea typeface="+mn-ea"/>
                <a:cs typeface="+mn-cs"/>
              </a:rPr>
              <a:t>Getting Results:</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Grouped </a:t>
            </a:r>
            <a:r>
              <a:rPr kumimoji="0" lang="en-US" sz="1500" b="0" i="0" u="none" strike="noStrike" kern="1200" cap="none" spc="0" normalizeH="0" baseline="0" noProof="0" dirty="0" err="1">
                <a:ln>
                  <a:noFill/>
                </a:ln>
                <a:solidFill>
                  <a:srgbClr val="FFFFFF"/>
                </a:solidFill>
                <a:effectLst/>
                <a:uLnTx/>
                <a:uFillTx/>
                <a:latin typeface="Avenir Next LT Pro "/>
                <a:ea typeface="+mn-ea"/>
                <a:cs typeface="+mn-cs"/>
              </a:rPr>
              <a:t>territory_sales</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by State, Store ID, and Store Location using .</a:t>
            </a:r>
            <a:r>
              <a:rPr kumimoji="0" lang="en-US" sz="1500" b="0" i="0" u="none" strike="noStrike" kern="1200" cap="none" spc="0" normalizeH="0" baseline="0" noProof="0" dirty="0" err="1">
                <a:ln>
                  <a:noFill/>
                </a:ln>
                <a:solidFill>
                  <a:srgbClr val="FFFFFF"/>
                </a:solidFill>
                <a:effectLst/>
                <a:uLnTx/>
                <a:uFillTx/>
                <a:latin typeface="Avenir Next LT Pro "/>
                <a:ea typeface="+mn-ea"/>
                <a:cs typeface="+mn-cs"/>
              </a:rPr>
              <a:t>agg</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to calculate both total revenue and transaction count simultaneously and add them as new columns. Then filtered by state and total revenue and sorted descending with assigned ranks.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FFFFFF"/>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venir Next LT Pro "/>
                <a:ea typeface="+mn-ea"/>
                <a:cs typeface="+mn-cs"/>
              </a:rPr>
              <a:t>Findings:</a:t>
            </a:r>
            <a:r>
              <a:rPr kumimoji="0" lang="en-US" sz="1500" b="0" i="0" u="none" strike="noStrike" kern="1200" cap="none" spc="0" normalizeH="0" baseline="0" noProof="0" dirty="0">
                <a:ln>
                  <a:noFill/>
                </a:ln>
                <a:solidFill>
                  <a:srgbClr val="FFFFFF"/>
                </a:solidFill>
                <a:effectLst/>
                <a:uLnTx/>
                <a:uFillTx/>
                <a:latin typeface="Avenir Next LT Pro "/>
                <a:ea typeface="+mn-ea"/>
                <a:cs typeface="+mn-cs"/>
              </a:rPr>
              <a:t> Beaumont (TX) ranks #1 overall at $637,819 across both territories. Newark (NJ) leads New Jersey at $623,164. Most stores cluster between $285K–$355K, confirming NJ's revenue dominance is driven by store count rather than individual store quality. Dallas (TX) and Paterson (NJ) are notable outliers warranting </a:t>
            </a:r>
            <a:r>
              <a:rPr kumimoji="0" lang="en-US" sz="1600" b="0" i="0" u="none" strike="noStrike" kern="1200" cap="none" spc="0" normalizeH="0" baseline="0" noProof="0" dirty="0">
                <a:ln>
                  <a:noFill/>
                </a:ln>
                <a:solidFill>
                  <a:srgbClr val="FFFFFF"/>
                </a:solidFill>
                <a:effectLst/>
                <a:uLnTx/>
                <a:uFillTx/>
                <a:latin typeface="Avenir Next LT Pro "/>
                <a:ea typeface="+mn-ea"/>
                <a:cs typeface="+mn-cs"/>
              </a:rPr>
              <a:t>store quality audits and targeted local marketing campaigns.</a:t>
            </a:r>
            <a:endParaRPr kumimoji="0" lang="en-US" sz="1500" b="0" i="0" u="none" strike="noStrike" kern="1200" cap="none" spc="0" normalizeH="0" baseline="0" noProof="0" dirty="0">
              <a:ln>
                <a:noFill/>
              </a:ln>
              <a:solidFill>
                <a:srgbClr val="FFFFFF"/>
              </a:solidFill>
              <a:effectLst/>
              <a:uLnTx/>
              <a:uFillTx/>
              <a:latin typeface="Avenir Next LT Pro "/>
              <a:ea typeface="+mn-ea"/>
              <a:cs typeface="+mn-cs"/>
            </a:endParaRPr>
          </a:p>
        </p:txBody>
      </p:sp>
      <p:pic>
        <p:nvPicPr>
          <p:cNvPr id="8" name="Picture 7" descr="The image displays a bar chart comparing the top five highest revenue-generating stores in Texas, with Beaumont and Newark being the top two, and includes a scale for revenue amounts.  AI-generated content may be incorrect.">
            <a:extLst>
              <a:ext uri="{FF2B5EF4-FFF2-40B4-BE49-F238E27FC236}">
                <a16:creationId xmlns:a16="http://schemas.microsoft.com/office/drawing/2014/main" id="{8FD332A0-E92B-078F-CD6F-ECB8435242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128" y="1414458"/>
            <a:ext cx="6626984" cy="3052897"/>
          </a:xfrm>
          <a:prstGeom prst="rect">
            <a:avLst/>
          </a:prstGeom>
        </p:spPr>
      </p:pic>
      <p:pic>
        <p:nvPicPr>
          <p:cNvPr id="12" name="Picture 11" descr="The image shows a code snippet in a programming language, likely Python, demonstrating how to group data by 'State', 'Store ID', and 'Store Location', and then calculate total revenue and transaction count for each group, followed by sorting and ranking based on total revenue.  AI-generated content may be incorrect.">
            <a:extLst>
              <a:ext uri="{FF2B5EF4-FFF2-40B4-BE49-F238E27FC236}">
                <a16:creationId xmlns:a16="http://schemas.microsoft.com/office/drawing/2014/main" id="{31DEA03D-72D9-A22D-63CC-FB3C334103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6703" y="1345259"/>
            <a:ext cx="3983520" cy="3122095"/>
          </a:xfrm>
          <a:prstGeom prst="rect">
            <a:avLst/>
          </a:prstGeom>
          <a:solidFill>
            <a:srgbClr val="F5F5F5"/>
          </a:solidFill>
        </p:spPr>
      </p:pic>
    </p:spTree>
    <p:extLst>
      <p:ext uri="{BB962C8B-B14F-4D97-AF65-F5344CB8AC3E}">
        <p14:creationId xmlns:p14="http://schemas.microsoft.com/office/powerpoint/2010/main" val="1171356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79CD9361-BCC0-911E-D8B6-6AE591A23EA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65A546E-80E2-181A-17B3-837B8F0282DE}"/>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Top Rewards Customers by Territory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FDF280E-3718-55F5-9D22-CE967C579C05}"/>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A8FEC409-F42F-AE87-6CF6-FA0FC5193228}"/>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731577D3-A1E9-6461-D2CA-A95E78EDCE5B}"/>
              </a:ext>
            </a:extLst>
          </p:cNvPr>
          <p:cNvSpPr/>
          <p:nvPr/>
        </p:nvSpPr>
        <p:spPr>
          <a:xfrm>
            <a:off x="365760" y="164592"/>
            <a:ext cx="2011680" cy="329184"/>
          </a:xfrm>
          <a:prstGeom prst="roundRect">
            <a:avLst>
              <a:gd name="adj" fmla="val 25000"/>
            </a:avLst>
          </a:prstGeom>
          <a:solidFill>
            <a:srgbClr val="89CCFD"/>
          </a:solidFill>
          <a:ln w="12700">
            <a:solidFill>
              <a:srgbClr val="0070C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Q4 — Top Customers</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36B6BFDE-86B8-DA0C-9F84-2C12F493D52B}"/>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0E4CDF88-F6FE-4676-9FB6-DE2C2C622A30}"/>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C26D66C8-CC3D-673C-E7AD-F13FFDDCDB17}"/>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CBC3058A-F7A8-25BA-CC3A-76EE8E80A73E}"/>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A83936AF-441E-334B-1C81-DAEC31236156}"/>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venir Next LT Pro "/>
                <a:ea typeface="+mn-ea"/>
                <a:cs typeface="+mn-cs"/>
              </a:rPr>
              <a:t>Getting Results:</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Left merged </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territory_sales</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with </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customer_list</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on </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RewardsID</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and </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cust_id</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 different column names requiring </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left_on</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right_on</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Filtered to rewards members only using .</a:t>
            </a:r>
            <a:r>
              <a:rPr kumimoji="0" lang="en-US" sz="1400" b="0" i="0" u="none" strike="noStrike" kern="1200" cap="none" spc="0" normalizeH="0" baseline="0" noProof="0" dirty="0" err="1">
                <a:ln>
                  <a:noFill/>
                </a:ln>
                <a:solidFill>
                  <a:srgbClr val="FFFFFF"/>
                </a:solidFill>
                <a:effectLst/>
                <a:uLnTx/>
                <a:uFillTx/>
                <a:latin typeface="Avenir Next LT Pro "/>
                <a:ea typeface="+mn-ea"/>
                <a:cs typeface="+mn-cs"/>
              </a:rPr>
              <a:t>notna</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then grouped by customer to calculate total spend and transaction count.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venir Next LT Pro "/>
                <a:ea typeface="+mn-ea"/>
                <a:cs typeface="+mn-cs"/>
              </a:rPr>
              <a:t>Findings:</a:t>
            </a:r>
            <a:r>
              <a:rPr kumimoji="0" lang="en-US" sz="1400" b="0" i="0" u="none" strike="noStrike" kern="1200" cap="none" spc="0" normalizeH="0" baseline="0" noProof="0" dirty="0">
                <a:ln>
                  <a:noFill/>
                </a:ln>
                <a:solidFill>
                  <a:srgbClr val="FFFFFF"/>
                </a:solidFill>
                <a:effectLst/>
                <a:uLnTx/>
                <a:uFillTx/>
                <a:latin typeface="Avenir Next LT Pro "/>
                <a:ea typeface="+mn-ea"/>
                <a:cs typeface="+mn-cs"/>
              </a:rPr>
              <a:t> Texas' top rewards customer is Nate Jacobs at $5,241 across 10 transactions ($524 avg). New Jersey's top spender is Ben Linus at $4,811 across 8 transactions ($601 avg). Despite NJ's overall revenue dominance, Texas claims the top individual rewards spender. A critical data gap exists because the other non-rewards transactions cannot be individually tracked. This gap suggests that email-based rewards expansion may be a more inclusive tracking system. </a:t>
            </a:r>
          </a:p>
        </p:txBody>
      </p:sp>
      <p:pic>
        <p:nvPicPr>
          <p:cNvPr id="10" name="Picture 9" descr="The image is a bar chart displaying the top five customers by spend in different territories, with Texas and New Jersey being the highest spenders.  AI-generated content may be incorrect.">
            <a:extLst>
              <a:ext uri="{FF2B5EF4-FFF2-40B4-BE49-F238E27FC236}">
                <a16:creationId xmlns:a16="http://schemas.microsoft.com/office/drawing/2014/main" id="{5E9FB46C-DCE6-A178-A246-1DE772159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82" y="1345260"/>
            <a:ext cx="6811903" cy="3191294"/>
          </a:xfrm>
          <a:prstGeom prst="rect">
            <a:avLst/>
          </a:prstGeom>
        </p:spPr>
      </p:pic>
      <p:pic>
        <p:nvPicPr>
          <p:cNvPr id="13" name="Picture 12" descr="The image depicts a data analysis process, specifically a series of pandas DataFrame operations merging sales and customer data, followed by filtering and aggregation to identify top spenders in Texas and New Jersey.  AI-generated content may be incorrect.">
            <a:extLst>
              <a:ext uri="{FF2B5EF4-FFF2-40B4-BE49-F238E27FC236}">
                <a16:creationId xmlns:a16="http://schemas.microsoft.com/office/drawing/2014/main" id="{F6B787FA-E3E7-EFE8-5EAF-E09CB0C69D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4699" y="1345260"/>
            <a:ext cx="3707150" cy="3191294"/>
          </a:xfrm>
          <a:prstGeom prst="rect">
            <a:avLst/>
          </a:prstGeom>
        </p:spPr>
      </p:pic>
    </p:spTree>
    <p:extLst>
      <p:ext uri="{BB962C8B-B14F-4D97-AF65-F5344CB8AC3E}">
        <p14:creationId xmlns:p14="http://schemas.microsoft.com/office/powerpoint/2010/main" val="884845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C256BCA3-5365-E67D-EB97-74FF31E2A1D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98282E9-742F-34AF-FE02-265C0ED91263}"/>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Product Category Performance by Territory and Findings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15794D96-B6E5-8252-2C88-E435E16AE21A}"/>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9C247E07-4867-45BF-4E90-9694801AA5B5}"/>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3AF941BE-B074-1089-0066-9EF4F46E7526}"/>
              </a:ext>
            </a:extLst>
          </p:cNvPr>
          <p:cNvSpPr/>
          <p:nvPr/>
        </p:nvSpPr>
        <p:spPr>
          <a:xfrm>
            <a:off x="365760" y="164592"/>
            <a:ext cx="2011680" cy="329184"/>
          </a:xfrm>
          <a:prstGeom prst="roundRect">
            <a:avLst>
              <a:gd name="adj" fmla="val 25000"/>
            </a:avLst>
          </a:prstGeom>
          <a:solidFill>
            <a:srgbClr val="9DECD9"/>
          </a:solidFill>
          <a:ln w="12700">
            <a:solidFill>
              <a:schemeClr val="accent6">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Q5 — Product Categories</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3" name="Shape 8">
            <a:extLst>
              <a:ext uri="{FF2B5EF4-FFF2-40B4-BE49-F238E27FC236}">
                <a16:creationId xmlns:a16="http://schemas.microsoft.com/office/drawing/2014/main" id="{26E6EC37-DA00-7BC1-2DF2-BE61A3BCD85F}"/>
              </a:ext>
            </a:extLst>
          </p:cNvPr>
          <p:cNvSpPr/>
          <p:nvPr/>
        </p:nvSpPr>
        <p:spPr>
          <a:xfrm>
            <a:off x="365760" y="1298448"/>
            <a:ext cx="6903720" cy="3260490"/>
          </a:xfrm>
          <a:prstGeom prst="rect">
            <a:avLst/>
          </a:prstGeom>
          <a:solidFill>
            <a:schemeClr val="bg1"/>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9">
            <a:extLst>
              <a:ext uri="{FF2B5EF4-FFF2-40B4-BE49-F238E27FC236}">
                <a16:creationId xmlns:a16="http://schemas.microsoft.com/office/drawing/2014/main" id="{AA2E08FB-BE39-CA7C-285C-3A56D65EC574}"/>
              </a:ext>
            </a:extLst>
          </p:cNvPr>
          <p:cNvSpPr/>
          <p:nvPr/>
        </p:nvSpPr>
        <p:spPr>
          <a:xfrm>
            <a:off x="365760" y="1298448"/>
            <a:ext cx="45719" cy="3260483"/>
          </a:xfrm>
          <a:prstGeom prst="rect">
            <a:avLst/>
          </a:prstGeom>
          <a:solidFill>
            <a:srgbClr val="89CCFD"/>
          </a:solidFill>
          <a:ln w="12700">
            <a:solidFill>
              <a:srgbClr val="89CC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12">
            <a:extLst>
              <a:ext uri="{FF2B5EF4-FFF2-40B4-BE49-F238E27FC236}">
                <a16:creationId xmlns:a16="http://schemas.microsoft.com/office/drawing/2014/main" id="{F625D364-006D-165D-0111-DB569B2CF09E}"/>
              </a:ext>
            </a:extLst>
          </p:cNvPr>
          <p:cNvSpPr/>
          <p:nvPr/>
        </p:nvSpPr>
        <p:spPr>
          <a:xfrm>
            <a:off x="7426234" y="1298448"/>
            <a:ext cx="4396958" cy="3260486"/>
          </a:xfrm>
          <a:prstGeom prst="rect">
            <a:avLst/>
          </a:prstGeom>
          <a:solidFill>
            <a:srgbClr val="F5F5F5"/>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13">
            <a:extLst>
              <a:ext uri="{FF2B5EF4-FFF2-40B4-BE49-F238E27FC236}">
                <a16:creationId xmlns:a16="http://schemas.microsoft.com/office/drawing/2014/main" id="{442317C0-05C8-7FF7-B458-42E1AF2BB984}"/>
              </a:ext>
            </a:extLst>
          </p:cNvPr>
          <p:cNvSpPr/>
          <p:nvPr/>
        </p:nvSpPr>
        <p:spPr>
          <a:xfrm>
            <a:off x="7394230" y="1298448"/>
            <a:ext cx="45719" cy="3260483"/>
          </a:xfrm>
          <a:prstGeom prst="rect">
            <a:avLst/>
          </a:prstGeom>
          <a:solidFill>
            <a:srgbClr val="EDB0BC"/>
          </a:solidFill>
          <a:ln w="12700">
            <a:solidFill>
              <a:srgbClr val="EDB0B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0A6B4910-424D-9A62-A1DC-1FDEE0039513}"/>
              </a:ext>
            </a:extLst>
          </p:cNvPr>
          <p:cNvSpPr/>
          <p:nvPr/>
        </p:nvSpPr>
        <p:spPr>
          <a:xfrm>
            <a:off x="314385" y="4693094"/>
            <a:ext cx="11877615" cy="1642606"/>
          </a:xfrm>
          <a:prstGeom prst="roundRect">
            <a:avLst/>
          </a:prstGeom>
          <a:solidFill>
            <a:srgbClr val="2023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
                <a:ea typeface="+mn-ea"/>
                <a:cs typeface="+mn-cs"/>
              </a:rPr>
              <a:t>Getting Results:</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Used </a:t>
            </a:r>
            <a:r>
              <a:rPr kumimoji="0" lang="en-US" sz="1300" b="0" i="0" u="none" strike="noStrike" kern="1200" cap="none" spc="0" normalizeH="0" baseline="0" noProof="0" dirty="0" err="1">
                <a:ln>
                  <a:noFill/>
                </a:ln>
                <a:solidFill>
                  <a:srgbClr val="FFFFFF"/>
                </a:solidFill>
                <a:effectLst/>
                <a:uLnTx/>
                <a:uFillTx/>
                <a:latin typeface="Avenir Next LT Pro "/>
                <a:ea typeface="+mn-ea"/>
                <a:cs typeface="+mn-cs"/>
              </a:rPr>
              <a:t>drop_duplicates</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on </a:t>
            </a:r>
            <a:r>
              <a:rPr kumimoji="0" lang="en-US" sz="1300" b="0" i="0" u="none" strike="noStrike" kern="1200" cap="none" spc="0" normalizeH="0" baseline="0" noProof="0" dirty="0" err="1">
                <a:ln>
                  <a:noFill/>
                </a:ln>
                <a:solidFill>
                  <a:srgbClr val="FFFFFF"/>
                </a:solidFill>
                <a:effectLst/>
                <a:uLnTx/>
                <a:uFillTx/>
                <a:latin typeface="Avenir Next LT Pro "/>
                <a:ea typeface="+mn-ea"/>
                <a:cs typeface="+mn-cs"/>
              </a:rPr>
              <a:t>ProductCategories</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before merging to prevent duplicates. Chained two merges: </a:t>
            </a:r>
            <a:r>
              <a:rPr kumimoji="0" lang="en-US" sz="1300" b="0" i="0" u="none" strike="noStrike" kern="1200" cap="none" spc="0" normalizeH="0" baseline="0" noProof="0" dirty="0" err="1">
                <a:ln>
                  <a:noFill/>
                </a:ln>
                <a:solidFill>
                  <a:srgbClr val="FFFFFF"/>
                </a:solidFill>
                <a:effectLst/>
                <a:uLnTx/>
                <a:uFillTx/>
                <a:latin typeface="Avenir Next LT Pro "/>
                <a:ea typeface="+mn-ea"/>
                <a:cs typeface="+mn-cs"/>
              </a:rPr>
              <a:t>territory_sales</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to products on shared Prod Num, and then on categories through shared </a:t>
            </a:r>
            <a:r>
              <a:rPr kumimoji="0" lang="en-US" sz="1300" b="0" i="0" u="none" strike="noStrike" kern="1200" cap="none" spc="0" normalizeH="0" baseline="0" noProof="0" dirty="0" err="1">
                <a:ln>
                  <a:noFill/>
                </a:ln>
                <a:solidFill>
                  <a:srgbClr val="FFFFFF"/>
                </a:solidFill>
                <a:effectLst/>
                <a:uLnTx/>
                <a:uFillTx/>
                <a:latin typeface="Avenir Next LT Pro "/>
                <a:ea typeface="+mn-ea"/>
                <a:cs typeface="+mn-cs"/>
              </a:rPr>
              <a:t>CategoryID</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Grouped by State and Category using .</a:t>
            </a:r>
            <a:r>
              <a:rPr kumimoji="0" lang="en-US" sz="1300" b="0" i="0" u="none" strike="noStrike" kern="1200" cap="none" spc="0" normalizeH="0" baseline="0" noProof="0" dirty="0" err="1">
                <a:ln>
                  <a:noFill/>
                </a:ln>
                <a:solidFill>
                  <a:srgbClr val="FFFFFF"/>
                </a:solidFill>
                <a:effectLst/>
                <a:uLnTx/>
                <a:uFillTx/>
                <a:latin typeface="Avenir Next LT Pro "/>
                <a:ea typeface="+mn-ea"/>
                <a:cs typeface="+mn-cs"/>
              </a:rPr>
              <a:t>agg</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then pivoted for the grouped bar chart visualization.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srgbClr val="FFFFFF"/>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
                <a:ea typeface="+mn-ea"/>
                <a:cs typeface="+mn-cs"/>
              </a:rPr>
              <a:t>Findings:</a:t>
            </a:r>
            <a:r>
              <a:rPr kumimoji="0" lang="en-US" sz="1300" b="0" i="0" u="none" strike="noStrike" kern="1200" cap="none" spc="0" normalizeH="0" baseline="0" noProof="0" dirty="0">
                <a:ln>
                  <a:noFill/>
                </a:ln>
                <a:solidFill>
                  <a:srgbClr val="FFFFFF"/>
                </a:solidFill>
                <a:effectLst/>
                <a:uLnTx/>
                <a:uFillTx/>
                <a:latin typeface="Avenir Next LT Pro "/>
                <a:ea typeface="+mn-ea"/>
                <a:cs typeface="+mn-cs"/>
              </a:rPr>
              <a:t> Technology &amp; Accessories dominates both territories generating approximately $3.6M in NJ and $2.4M in TX — far exceeding every other category. Stationery and Supplies ranks highest in transaction count but generates disproportionately low revenue, suggesting customers purchase frequently but spend minimally per visit, presenting a strong bundle opportunity. Books (General) shows the lowest revenue and transaction count across both territories.</a:t>
            </a:r>
          </a:p>
        </p:txBody>
      </p:sp>
      <p:pic>
        <p:nvPicPr>
          <p:cNvPr id="8" name="Picture 7" descr="The diagram displays a breakdown of total revenue by product categories (Art Supplies, Textbooks, Books, Apparel and Merchandise, Stationery and Supplies, Technology &amp; Accessories) across various territories (New Jersey, Texas), with New Jersey having the highest revenue.  AI-generated content may be incorrect.">
            <a:extLst>
              <a:ext uri="{FF2B5EF4-FFF2-40B4-BE49-F238E27FC236}">
                <a16:creationId xmlns:a16="http://schemas.microsoft.com/office/drawing/2014/main" id="{F071D935-7FDA-FB4D-56DF-6761D5D03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699" y="1373256"/>
            <a:ext cx="6589560" cy="3135300"/>
          </a:xfrm>
          <a:prstGeom prst="rect">
            <a:avLst/>
          </a:prstGeom>
        </p:spPr>
      </p:pic>
      <p:pic>
        <p:nvPicPr>
          <p:cNvPr id="12" name="Picture 11" descr="The provided text describes a process for data manipulation in Python using pandas to prepare a dataset for visualization, including removing duplicate categories, merging tables, and creating a pivot table for a bar chart.  AI-generated content may be incorrect.">
            <a:extLst>
              <a:ext uri="{FF2B5EF4-FFF2-40B4-BE49-F238E27FC236}">
                <a16:creationId xmlns:a16="http://schemas.microsoft.com/office/drawing/2014/main" id="{3235F37F-B564-ECF6-A9DE-744276DEB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1953" y="1322876"/>
            <a:ext cx="4174348" cy="3185680"/>
          </a:xfrm>
          <a:prstGeom prst="rect">
            <a:avLst/>
          </a:prstGeom>
        </p:spPr>
      </p:pic>
    </p:spTree>
    <p:extLst>
      <p:ext uri="{BB962C8B-B14F-4D97-AF65-F5344CB8AC3E}">
        <p14:creationId xmlns:p14="http://schemas.microsoft.com/office/powerpoint/2010/main" val="3278617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42CDDA9D-4A2A-A1FF-DD1B-3ABD3971364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DB5913D-C444-5E70-DA84-49B2FBB1487C}"/>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Key Metrics for Both Territories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2F993A9-BB9B-C946-2255-1863E6AA1788}"/>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CA73D105-91C0-00B0-BDED-5C9A18B2D5ED}"/>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9" name="Shape 0">
            <a:extLst>
              <a:ext uri="{FF2B5EF4-FFF2-40B4-BE49-F238E27FC236}">
                <a16:creationId xmlns:a16="http://schemas.microsoft.com/office/drawing/2014/main" id="{477AD43F-ADFE-6E90-B496-25C05FB5F016}"/>
              </a:ext>
            </a:extLst>
          </p:cNvPr>
          <p:cNvSpPr/>
          <p:nvPr/>
        </p:nvSpPr>
        <p:spPr>
          <a:xfrm>
            <a:off x="365760" y="164592"/>
            <a:ext cx="2011680" cy="329184"/>
          </a:xfrm>
          <a:prstGeom prst="roundRect">
            <a:avLst>
              <a:gd name="adj" fmla="val 25000"/>
            </a:avLst>
          </a:prstGeom>
          <a:solidFill>
            <a:schemeClr val="accent4">
              <a:lumMod val="40000"/>
              <a:lumOff val="60000"/>
            </a:schemeClr>
          </a:solidFill>
          <a:ln w="12700">
            <a:solidFill>
              <a:schemeClr val="accent4">
                <a:lumMod val="75000"/>
              </a:scheme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Executive Summary</a:t>
            </a:r>
            <a:endParaRPr kumimoji="0" lang="en-US" sz="1000" b="0" i="0" u="none" strike="noStrike" kern="1200" cap="none" spc="0" normalizeH="0" baseline="0" noProof="0" dirty="0">
              <a:ln>
                <a:noFill/>
              </a:ln>
              <a:solidFill>
                <a:srgbClr val="000000"/>
              </a:solidFill>
              <a:effectLst/>
              <a:uLnTx/>
              <a:uFillTx/>
              <a:latin typeface="Avenir Next LT Pro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venir Next LT Pro "/>
              <a:ea typeface="+mn-ea"/>
              <a:cs typeface="+mn-cs"/>
            </a:endParaRPr>
          </a:p>
        </p:txBody>
      </p:sp>
      <p:sp>
        <p:nvSpPr>
          <p:cNvPr id="10" name="Rectangle 9">
            <a:extLst>
              <a:ext uri="{FF2B5EF4-FFF2-40B4-BE49-F238E27FC236}">
                <a16:creationId xmlns:a16="http://schemas.microsoft.com/office/drawing/2014/main" id="{FE95EB37-0F28-679F-DD48-B7221584332B}"/>
              </a:ext>
            </a:extLst>
          </p:cNvPr>
          <p:cNvSpPr/>
          <p:nvPr/>
        </p:nvSpPr>
        <p:spPr>
          <a:xfrm>
            <a:off x="431074" y="1404257"/>
            <a:ext cx="11266715" cy="4886813"/>
          </a:xfrm>
          <a:prstGeom prst="rect">
            <a:avLst/>
          </a:prstGeom>
          <a:solidFill>
            <a:srgbClr val="8497B0"/>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venir Next LT Pro "/>
              <a:ea typeface="+mn-ea"/>
              <a:cs typeface="+mn-cs"/>
            </a:endParaRPr>
          </a:p>
        </p:txBody>
      </p:sp>
      <p:pic>
        <p:nvPicPr>
          <p:cNvPr id="13" name="Picture 12" descr="The image shows a bar chart detailing revenue growth for technology and accessories in New Jersey and Texas, with a focus on key insights such as top stores and customers.  AI-generated content may be incorrect.">
            <a:extLst>
              <a:ext uri="{FF2B5EF4-FFF2-40B4-BE49-F238E27FC236}">
                <a16:creationId xmlns:a16="http://schemas.microsoft.com/office/drawing/2014/main" id="{89EA667F-0CF2-732B-96BF-2AC26F0527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342" y="1561298"/>
            <a:ext cx="10671427" cy="4572729"/>
          </a:xfrm>
          <a:prstGeom prst="rect">
            <a:avLst/>
          </a:prstGeom>
        </p:spPr>
      </p:pic>
    </p:spTree>
    <p:extLst>
      <p:ext uri="{BB962C8B-B14F-4D97-AF65-F5344CB8AC3E}">
        <p14:creationId xmlns:p14="http://schemas.microsoft.com/office/powerpoint/2010/main" val="354105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E42"/>
        </a:solidFill>
        <a:effectLst/>
      </p:bgPr>
    </p:bg>
    <p:spTree>
      <p:nvGrpSpPr>
        <p:cNvPr id="1" name=""/>
        <p:cNvGrpSpPr/>
        <p:nvPr/>
      </p:nvGrpSpPr>
      <p:grpSpPr>
        <a:xfrm>
          <a:off x="0" y="0"/>
          <a:ext cx="0" cy="0"/>
          <a:chOff x="0" y="0"/>
          <a:chExt cx="0" cy="0"/>
        </a:xfrm>
      </p:grpSpPr>
      <p:sp>
        <p:nvSpPr>
          <p:cNvPr id="4" name="Text 2"/>
          <p:cNvSpPr/>
          <p:nvPr/>
        </p:nvSpPr>
        <p:spPr>
          <a:xfrm>
            <a:off x="365760" y="566928"/>
            <a:ext cx="11457432"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Marketing Focus Recommendations - </a:t>
            </a:r>
            <a:r>
              <a:rPr kumimoji="0" lang="en-US" sz="28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Quarter 1 2026</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65760" y="1316736"/>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65760" y="1316736"/>
            <a:ext cx="64008" cy="1170432"/>
          </a:xfrm>
          <a:prstGeom prst="rect">
            <a:avLst/>
          </a:prstGeom>
          <a:solidFill>
            <a:srgbClr val="FBEBAC"/>
          </a:solidFill>
          <a:ln w="12700">
            <a:solidFill>
              <a:srgbClr val="F4CE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12064" y="1700784"/>
            <a:ext cx="292608" cy="292608"/>
          </a:xfrm>
          <a:prstGeom prst="ellipse">
            <a:avLst/>
          </a:prstGeom>
          <a:solidFill>
            <a:srgbClr val="FBEBAC"/>
          </a:solidFill>
          <a:ln w="12700">
            <a:solidFill>
              <a:srgbClr val="F4CE2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12064" y="1700784"/>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932688" y="1371600"/>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Primary Focus: Technology &amp; Accessories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32688" y="1664208"/>
            <a:ext cx="10789920" cy="74980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venir Next LT Pro" pitchFamily="34" charset="0"/>
                <a:ea typeface="Avenir Next LT Pro" pitchFamily="34" charset="-122"/>
                <a:cs typeface="Avenir Next LT Pro" pitchFamily="34" charset="-120"/>
              </a:rPr>
              <a:t>Technology &amp; Accessories is the clear revenue driver across both territories generating over $6M combined. Marketing efforts should prioritize promoting technology products, especially in Texas where the gap with New Jersey is largest. Leveraging </a:t>
            </a:r>
            <a:r>
              <a:rPr kumimoji="0" lang="en-US" sz="1200" b="0" i="0" u="none" strike="noStrike" kern="1200" cap="none" spc="0" normalizeH="0" baseline="0" noProof="0" dirty="0" err="1">
                <a:ln>
                  <a:noFill/>
                </a:ln>
                <a:solidFill>
                  <a:prstClr val="white"/>
                </a:solidFill>
                <a:effectLst/>
                <a:uLnTx/>
                <a:uFillTx/>
                <a:latin typeface="Avenir Next LT Pro" pitchFamily="34" charset="0"/>
                <a:ea typeface="Avenir Next LT Pro" pitchFamily="34" charset="-122"/>
                <a:cs typeface="Avenir Next LT Pro" pitchFamily="34" charset="-120"/>
              </a:rPr>
              <a:t>Texas</a:t>
            </a:r>
            <a:r>
              <a:rPr kumimoji="0" lang="en-US" sz="1200" b="0" i="0" u="none" strike="noStrike" kern="1200" cap="none" spc="0" normalizeH="0" baseline="0" noProof="0" dirty="0">
                <a:ln>
                  <a:noFill/>
                </a:ln>
                <a:solidFill>
                  <a:prstClr val="white"/>
                </a:solidFill>
                <a:effectLst/>
                <a:uLnTx/>
                <a:uFillTx/>
                <a:latin typeface="Avenir Next LT Pro" pitchFamily="34" charset="0"/>
                <a:ea typeface="Avenir Next LT Pro" pitchFamily="34" charset="-122"/>
                <a:cs typeface="Avenir Next LT Pro" pitchFamily="34" charset="-120"/>
              </a:rPr>
              <a:t> customer loyalty by offering care packages or accessories bundles with technology purchases could incentivize both existing and new customers to increase their spend in this category.</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Shape 13"/>
          <p:cNvSpPr/>
          <p:nvPr/>
        </p:nvSpPr>
        <p:spPr>
          <a:xfrm>
            <a:off x="365760" y="2578608"/>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365760" y="2578608"/>
            <a:ext cx="64008" cy="1170432"/>
          </a:xfrm>
          <a:prstGeom prst="rect">
            <a:avLst/>
          </a:prstGeom>
          <a:solidFill>
            <a:schemeClr val="accent2">
              <a:lumMod val="60000"/>
              <a:lumOff val="40000"/>
            </a:schemeClr>
          </a:solidFill>
          <a:ln w="12700">
            <a:solidFill>
              <a:srgbClr val="F5802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12064" y="2962656"/>
            <a:ext cx="292608" cy="292608"/>
          </a:xfrm>
          <a:prstGeom prst="ellipse">
            <a:avLst/>
          </a:prstGeom>
          <a:solidFill>
            <a:schemeClr val="accent2">
              <a:lumMod val="40000"/>
              <a:lumOff val="60000"/>
            </a:schemeClr>
          </a:solidFill>
          <a:ln w="12700">
            <a:solidFill>
              <a:srgbClr val="F5802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9" name="Text 17"/>
          <p:cNvSpPr/>
          <p:nvPr/>
        </p:nvSpPr>
        <p:spPr>
          <a:xfrm>
            <a:off x="932688" y="2633472"/>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Secondary Focus: Stationery Bundle Strategy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32688" y="2926080"/>
            <a:ext cx="10789920" cy="74980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venir Next LT Pro" pitchFamily="34" charset="0"/>
                <a:ea typeface="Avenir Next LT Pro" pitchFamily="34" charset="-122"/>
                <a:cs typeface="Avenir Next LT Pro" pitchFamily="34" charset="-120"/>
              </a:rPr>
              <a:t>Introducing bundle promotions pairing Stationery with Books or Art Supplies as back-to-school or premium studying packages would simultaneously lift revenue across three low-performing categories while targeting what the seasonal data suggests is a predominantly student consumer base.</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Shape 19"/>
          <p:cNvSpPr/>
          <p:nvPr/>
        </p:nvSpPr>
        <p:spPr>
          <a:xfrm>
            <a:off x="365760" y="3840480"/>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365760" y="3840480"/>
            <a:ext cx="64008" cy="1170432"/>
          </a:xfrm>
          <a:prstGeom prst="rect">
            <a:avLst/>
          </a:prstGeom>
          <a:solidFill>
            <a:srgbClr val="EDB0BC"/>
          </a:solidFill>
          <a:ln w="12700">
            <a:solidFill>
              <a:srgbClr val="D2395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12064" y="4224528"/>
            <a:ext cx="292608" cy="292608"/>
          </a:xfrm>
          <a:prstGeom prst="ellipse">
            <a:avLst/>
          </a:prstGeom>
          <a:solidFill>
            <a:srgbClr val="EDB0BC"/>
          </a:solidFill>
          <a:ln w="12700">
            <a:solidFill>
              <a:srgbClr val="D2395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512064" y="4224528"/>
            <a:ext cx="29260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B2E42"/>
                </a:solidFill>
                <a:effectLst/>
                <a:uLnTx/>
                <a:uFillTx/>
                <a:latin typeface="Avenir Next LT Pro" pitchFamily="34" charset="0"/>
                <a:ea typeface="Avenir Next LT Pro" pitchFamily="34" charset="-122"/>
                <a:cs typeface="Avenir Next LT Pro" pitchFamily="34" charset="-120"/>
              </a:rPr>
              <a:t>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932688" y="3895344"/>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Customer Retention: VIP Rewards + Email Tracking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918972" y="4111752"/>
            <a:ext cx="10789920" cy="74980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venir Next LT Pro" panose="020B0504020202020204" pitchFamily="34" charset="0"/>
                <a:ea typeface="Avenir Next LT Pro" pitchFamily="34" charset="-122"/>
                <a:cs typeface="Avenir Next LT Pro" pitchFamily="34" charset="-120"/>
              </a:rPr>
              <a:t>A points-based VIP rewards expansion targeting high spenders could increase transaction frequency and drive enrollment among non-rewards customers who currently cannot be tracked. Since every transaction is already tied to an email address, implementing a lightweight email-based tracking system would provide full visibility into customer behavior across both territories, not just rewards members.</a:t>
            </a:r>
            <a:endParaRPr kumimoji="0" lang="en-US" sz="12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p:txBody>
      </p:sp>
      <p:sp>
        <p:nvSpPr>
          <p:cNvPr id="27" name="Shape 25"/>
          <p:cNvSpPr/>
          <p:nvPr/>
        </p:nvSpPr>
        <p:spPr>
          <a:xfrm>
            <a:off x="365760" y="5102352"/>
            <a:ext cx="11457432" cy="1170432"/>
          </a:xfrm>
          <a:prstGeom prst="rect">
            <a:avLst/>
          </a:prstGeom>
          <a:solidFill>
            <a:srgbClr val="1E2236"/>
          </a:solidFill>
          <a:ln/>
          <a:effectLst>
            <a:outerShdw blurRad="63500" dist="254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365760" y="5102352"/>
            <a:ext cx="64008" cy="1170432"/>
          </a:xfrm>
          <a:prstGeom prst="rect">
            <a:avLst/>
          </a:prstGeom>
          <a:solidFill>
            <a:srgbClr val="89CCFD"/>
          </a:solidFill>
          <a:ln w="12700">
            <a:solidFill>
              <a:srgbClr val="009A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512064" y="5486400"/>
            <a:ext cx="292608" cy="292608"/>
          </a:xfrm>
          <a:prstGeom prst="ellipse">
            <a:avLst/>
          </a:prstGeom>
          <a:solidFill>
            <a:srgbClr val="89CCFD"/>
          </a:solidFill>
          <a:ln w="12700">
            <a:solidFill>
              <a:srgbClr val="009AD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1" name="Text 29"/>
          <p:cNvSpPr/>
          <p:nvPr/>
        </p:nvSpPr>
        <p:spPr>
          <a:xfrm>
            <a:off x="932688" y="5157216"/>
            <a:ext cx="10789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Store Performance Disparity: Address Outliers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32688" y="5449824"/>
            <a:ext cx="10789920" cy="74980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venir Next LT Pro" panose="020B0504020202020204" pitchFamily="34" charset="0"/>
                <a:ea typeface="Avenir Next LT Pro" pitchFamily="34" charset="-122"/>
                <a:cs typeface="Avenir Next LT Pro" pitchFamily="34" charset="-120"/>
              </a:rPr>
              <a:t>Dallas' underperformance is surprising given its metropolitan population of </a:t>
            </a:r>
            <a:r>
              <a:rPr kumimoji="0" lang="en-US" sz="1100" b="1" i="0" u="none" strike="noStrike" kern="1200" cap="none" spc="0" normalizeH="0" baseline="0" noProof="0" dirty="0">
                <a:ln>
                  <a:noFill/>
                </a:ln>
                <a:solidFill>
                  <a:prstClr val="white"/>
                </a:solidFill>
                <a:effectLst/>
                <a:uLnTx/>
                <a:uFillTx/>
                <a:latin typeface="Avenir Next LT Pro" panose="020B0504020202020204" pitchFamily="34" charset="0"/>
                <a:ea typeface="Avenir Next LT Pro" pitchFamily="34" charset="-122"/>
                <a:cs typeface="Avenir Next LT Pro" pitchFamily="34" charset="-120"/>
              </a:rPr>
              <a:t>approximately 1.3 million according to the U.S. Census Bureau, </a:t>
            </a:r>
            <a:r>
              <a:rPr kumimoji="0" lang="en-US" sz="1100" b="0" i="0" u="none" strike="noStrike" kern="1200" cap="none" spc="0" normalizeH="0" baseline="0" noProof="0" dirty="0">
                <a:ln>
                  <a:noFill/>
                </a:ln>
                <a:solidFill>
                  <a:prstClr val="white"/>
                </a:solidFill>
                <a:effectLst/>
                <a:uLnTx/>
                <a:uFillTx/>
                <a:latin typeface="Avenir Next LT Pro" panose="020B0504020202020204" pitchFamily="34" charset="0"/>
                <a:ea typeface="Avenir Next LT Pro" pitchFamily="34" charset="-122"/>
                <a:cs typeface="Avenir Next LT Pro" pitchFamily="34" charset="-120"/>
              </a:rPr>
              <a:t>suggesting location alone is not the issue.</a:t>
            </a:r>
            <a:r>
              <a:rPr kumimoji="0" lang="en-US" sz="11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 </a:t>
            </a:r>
            <a:r>
              <a:rPr kumimoji="0" lang="en-US" sz="1100" b="0" i="0" u="none" strike="noStrike" kern="1200" cap="none" spc="0" normalizeH="0" baseline="0" noProof="0" dirty="0">
                <a:ln>
                  <a:noFill/>
                </a:ln>
                <a:solidFill>
                  <a:prstClr val="white"/>
                </a:solidFill>
                <a:effectLst/>
                <a:uLnTx/>
                <a:uFillTx/>
                <a:latin typeface="Avenir Next LT Pro" panose="020B0504020202020204" pitchFamily="34" charset="0"/>
                <a:ea typeface="Avenir Next LT Pro" pitchFamily="34" charset="-122"/>
                <a:cs typeface="Avenir Next LT Pro" pitchFamily="34" charset="-120"/>
              </a:rPr>
              <a:t>Jeff Richards and Miami Vue should conduct store quality audits examining foot traffic, product placement, and staff engagement. Replicating successful tactics from top-performing stores Beaumont (TX) and Newark (NJ) is a practical first step before investing in larger external campaigns.</a:t>
            </a:r>
            <a:endParaRPr kumimoji="0" lang="en-US" sz="11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p:txBody>
      </p:sp>
      <p:cxnSp>
        <p:nvCxnSpPr>
          <p:cNvPr id="35" name="Straight Connector 34">
            <a:extLst>
              <a:ext uri="{FF2B5EF4-FFF2-40B4-BE49-F238E27FC236}">
                <a16:creationId xmlns:a16="http://schemas.microsoft.com/office/drawing/2014/main" id="{0CF39B44-6DFD-9D51-D77E-B0A600D4E821}"/>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
        <p:nvSpPr>
          <p:cNvPr id="36" name="Shape 25">
            <a:extLst>
              <a:ext uri="{FF2B5EF4-FFF2-40B4-BE49-F238E27FC236}">
                <a16:creationId xmlns:a16="http://schemas.microsoft.com/office/drawing/2014/main" id="{D730B70B-2EB5-9174-2F41-F895BE2B2D49}"/>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02331"/>
        </a:solidFill>
        <a:effectLst/>
      </p:bgPr>
    </p:bg>
    <p:spTree>
      <p:nvGrpSpPr>
        <p:cNvPr id="1" name="">
          <a:extLst>
            <a:ext uri="{FF2B5EF4-FFF2-40B4-BE49-F238E27FC236}">
              <a16:creationId xmlns:a16="http://schemas.microsoft.com/office/drawing/2014/main" id="{80F2445B-4E04-E291-D2A2-F7D7880FBDC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30FC3A0-A992-60C4-39F8-EDDB4311CE06}"/>
              </a:ext>
            </a:extLst>
          </p:cNvPr>
          <p:cNvSpPr/>
          <p:nvPr/>
        </p:nvSpPr>
        <p:spPr>
          <a:xfrm>
            <a:off x="365760" y="566928"/>
            <a:ext cx="1143000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venir Next LT Pro" pitchFamily="34" charset="0"/>
                <a:ea typeface="Avenir Next LT Pro" pitchFamily="34" charset="-122"/>
                <a:cs typeface="Avenir Next LT Pro" pitchFamily="34" charset="-120"/>
              </a:rPr>
              <a:t>GitHub Repository</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7F3838BE-E1D3-B9D4-A3B7-47677CBE6097}"/>
              </a:ext>
            </a:extLst>
          </p:cNvPr>
          <p:cNvSpPr/>
          <p:nvPr/>
        </p:nvSpPr>
        <p:spPr>
          <a:xfrm>
            <a:off x="365760" y="1298448"/>
            <a:ext cx="5541264" cy="4882896"/>
          </a:xfrm>
          <a:prstGeom prst="rect">
            <a:avLst/>
          </a:prstGeom>
          <a:solidFill>
            <a:srgbClr val="8497B0"/>
          </a:solidFill>
          <a:ln>
            <a:solidFill>
              <a:schemeClr val="tx2">
                <a:lumMod val="60000"/>
                <a:lumOff val="40000"/>
              </a:schemeClr>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88EB6C60-11FC-E199-2189-0741785F6C8C}"/>
              </a:ext>
            </a:extLst>
          </p:cNvPr>
          <p:cNvSpPr/>
          <p:nvPr/>
        </p:nvSpPr>
        <p:spPr>
          <a:xfrm>
            <a:off x="530352" y="1828800"/>
            <a:ext cx="5212080" cy="40233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hlinkClick r:id="rId3"/>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Lucida Calligraphy" panose="03010101010101010101" pitchFamily="66" charset="0"/>
              <a:ea typeface="+mn-ea"/>
              <a:cs typeface="+mn-cs"/>
              <a:hlinkClick r:id="rId3"/>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Lucida Calligraphy" panose="03010101010101010101" pitchFamily="66" charset="0"/>
                <a:ea typeface="Avenir Next LT Pro" pitchFamily="34" charset="-122"/>
                <a:cs typeface="Avenir Next LT Pro" pitchFamily="34" charset="-120"/>
              </a:rPr>
              <a:t>Thank You!</a:t>
            </a:r>
            <a:endParaRPr kumimoji="0" lang="en-US" sz="3600" b="0" i="0" u="none" strike="noStrike" kern="1200" cap="none" spc="0" normalizeH="0" baseline="0" noProof="0" dirty="0">
              <a:ln>
                <a:noFill/>
              </a:ln>
              <a:solidFill>
                <a:prstClr val="white"/>
              </a:solidFill>
              <a:effectLst/>
              <a:uLnTx/>
              <a:uFillTx/>
              <a:latin typeface="Lucida Calligraphy" panose="03010101010101010101" pitchFamily="66"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hlinkClick r:id="rId3">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hlinkClick r:id="rId3">
                <a:extLst>
                  <a:ext uri="{A12FA001-AC4F-418D-AE19-62706E023703}">
                    <ahyp:hlinkClr xmlns:ahyp="http://schemas.microsoft.com/office/drawing/2018/hyperlinkcolor" val="tx"/>
                  </a:ext>
                </a:extLst>
              </a:hlinkClick>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hlinkClick r:id="rId3">
                <a:extLst>
                  <a:ext uri="{A12FA001-AC4F-418D-AE19-62706E023703}">
                    <ahyp:hlinkClr xmlns:ahyp="http://schemas.microsoft.com/office/drawing/2018/hyperlinkcolor" val="tx"/>
                  </a:ext>
                </a:extLst>
              </a:hlinkClick>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hlinkClick r:id="rId3">
                  <a:extLst>
                    <a:ext uri="{A12FA001-AC4F-418D-AE19-62706E023703}">
                      <ahyp:hlinkClr xmlns:ahyp="http://schemas.microsoft.com/office/drawing/2018/hyperlinkcolor" val="tx"/>
                    </a:ext>
                  </a:extLst>
                </a:hlinkClick>
              </a:rPr>
              <a:t>https://github.com/sguerrero777/Capstone_2.git</a:t>
            </a:r>
            <a:endParaRPr kumimoji="0" lang="en-US" sz="16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hlinkClick r:id="rId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hlinkClick r:id="rId4"/>
              </a:rPr>
              <a:t>sguerrero@my.yearupunited.org</a:t>
            </a:r>
            <a:endParaRPr kumimoji="0" lang="en-US" sz="1600" b="0" i="0" u="none" strike="noStrike" kern="1200" cap="none" spc="0" normalizeH="0" baseline="0" noProof="0" dirty="0">
              <a:ln>
                <a:noFill/>
              </a:ln>
              <a:solidFill>
                <a:srgbClr val="0563C1"/>
              </a:solidFill>
              <a:effectLst/>
              <a:uLnTx/>
              <a:uFillTx/>
              <a:latin typeface="Avenir Next LT Pro"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venir Next LT Pro" panose="020B0504020202020204" pitchFamily="34" charset="0"/>
              <a:ea typeface="+mn-ea"/>
              <a:cs typeface="+mn-cs"/>
            </a:endParaRPr>
          </a:p>
        </p:txBody>
      </p:sp>
      <p:sp>
        <p:nvSpPr>
          <p:cNvPr id="14" name="Shape 12">
            <a:extLst>
              <a:ext uri="{FF2B5EF4-FFF2-40B4-BE49-F238E27FC236}">
                <a16:creationId xmlns:a16="http://schemas.microsoft.com/office/drawing/2014/main" id="{36295E2F-3AD3-4332-FBD4-EF00B78F0AC9}"/>
              </a:ext>
            </a:extLst>
          </p:cNvPr>
          <p:cNvSpPr/>
          <p:nvPr/>
        </p:nvSpPr>
        <p:spPr>
          <a:xfrm>
            <a:off x="6272784" y="1298448"/>
            <a:ext cx="5550408" cy="4882896"/>
          </a:xfrm>
          <a:prstGeom prst="rect">
            <a:avLst/>
          </a:prstGeom>
          <a:solidFill>
            <a:schemeClr val="tx2">
              <a:lumMod val="60000"/>
              <a:lumOff val="40000"/>
            </a:schemeClr>
          </a:solidFill>
          <a:ln/>
          <a:effectLst>
            <a:outerShdw blurRad="76200" dist="25400" dir="81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519C84CD-EC3C-37F5-2ABD-A3CFA524A66D}"/>
              </a:ext>
            </a:extLst>
          </p:cNvPr>
          <p:cNvSpPr/>
          <p:nvPr/>
        </p:nvSpPr>
        <p:spPr>
          <a:xfrm>
            <a:off x="365760" y="6492240"/>
            <a:ext cx="11457432" cy="0"/>
          </a:xfrm>
          <a:prstGeom prst="line">
            <a:avLst/>
          </a:prstGeom>
          <a:noFill/>
          <a:ln w="10160">
            <a:solidFill>
              <a:srgbClr val="9DEC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DBABBDF1-305F-BCF8-B8DB-8934A749C61F}"/>
              </a:ext>
              <a:ext uri="{C183D7F6-B498-43B3-948B-1728B52AA6E4}">
                <adec:decorative xmlns:adec="http://schemas.microsoft.com/office/drawing/2017/decorative" val="1"/>
              </a:ext>
            </a:extLst>
          </p:cNvPr>
          <p:cNvCxnSpPr>
            <a:cxnSpLocks/>
          </p:cNvCxnSpPr>
          <p:nvPr/>
        </p:nvCxnSpPr>
        <p:spPr>
          <a:xfrm>
            <a:off x="365760" y="1188720"/>
            <a:ext cx="11430000" cy="0"/>
          </a:xfrm>
          <a:prstGeom prst="line">
            <a:avLst/>
          </a:prstGeom>
          <a:ln w="28575">
            <a:gradFill>
              <a:gsLst>
                <a:gs pos="0">
                  <a:schemeClr val="accent1">
                    <a:lumMod val="60000"/>
                    <a:lumOff val="40000"/>
                  </a:schemeClr>
                </a:gs>
                <a:gs pos="100000">
                  <a:schemeClr val="accent2">
                    <a:lumMod val="60000"/>
                    <a:lumOff val="40000"/>
                  </a:schemeClr>
                </a:gs>
              </a:gsLst>
              <a:lin ang="216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063657"/>
      </p:ext>
    </p:extLst>
  </p:cSld>
  <p:clrMapOvr>
    <a:masterClrMapping/>
  </p:clrMapOvr>
</p:sld>
</file>

<file path=ppt/theme/theme1.xml><?xml version="1.0" encoding="utf-8"?>
<a:theme xmlns:a="http://schemas.openxmlformats.org/drawingml/2006/main" name="Custom">
  <a:themeElements>
    <a:clrScheme name="TM16411243">
      <a:dk1>
        <a:srgbClr val="000000"/>
      </a:dk1>
      <a:lt1>
        <a:srgbClr val="FFFFFF"/>
      </a:lt1>
      <a:dk2>
        <a:srgbClr val="2B2E42"/>
      </a:dk2>
      <a:lt2>
        <a:srgbClr val="E7E6E6"/>
      </a:lt2>
      <a:accent1>
        <a:srgbClr val="F4CE2F"/>
      </a:accent1>
      <a:accent2>
        <a:srgbClr val="D23958"/>
      </a:accent2>
      <a:accent3>
        <a:srgbClr val="F58020"/>
      </a:accent3>
      <a:accent4>
        <a:srgbClr val="009AD5"/>
      </a:accent4>
      <a:accent5>
        <a:srgbClr val="0479CE"/>
      </a:accent5>
      <a:accent6>
        <a:srgbClr val="25C29C"/>
      </a:accent6>
      <a:hlink>
        <a:srgbClr val="0563C1"/>
      </a:hlink>
      <a:folHlink>
        <a:srgbClr val="954F72"/>
      </a:folHlink>
    </a:clrScheme>
    <a:fontScheme name="Custom 70">
      <a:majorFont>
        <a:latin typeface="Avenir Next LT Pro Demi"/>
        <a:ea typeface=""/>
        <a:cs typeface=""/>
      </a:majorFont>
      <a:minorFont>
        <a:latin typeface="Avenir Next LT Pro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3_Win32_SL_v4" id="{5E1028BC-039D-4A85-8182-5BC71B8BBFDB}" vid="{8FC0B532-47E6-48BF-A500-9A0D2EC438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1148</Words>
  <Application>Microsoft Office PowerPoint</Application>
  <PresentationFormat>Widescreen</PresentationFormat>
  <Paragraphs>119</Paragraphs>
  <Slides>10</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Aptos</vt:lpstr>
      <vt:lpstr>Arial</vt:lpstr>
      <vt:lpstr>Avenir Next LT Pro</vt:lpstr>
      <vt:lpstr>Avenir Next LT Pro </vt:lpstr>
      <vt:lpstr>Avenir Next LT Pro Demi</vt:lpstr>
      <vt:lpstr>Calibri</vt:lpstr>
      <vt:lpstr>Lucida Calligraphy</vt:lpstr>
      <vt:lpstr>Custom</vt:lpstr>
      <vt:lpstr>Office Theme</vt:lpstr>
      <vt:lpstr>PowerPoint Presentation</vt:lpstr>
      <vt:lpstr>Analysis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sharleen guerrero</dc:creator>
  <cp:lastModifiedBy>sharleen guerrero</cp:lastModifiedBy>
  <cp:revision>1</cp:revision>
  <dcterms:created xsi:type="dcterms:W3CDTF">2026-05-29T04:06:27Z</dcterms:created>
  <dcterms:modified xsi:type="dcterms:W3CDTF">2026-05-29T04:10:48Z</dcterms:modified>
</cp:coreProperties>
</file>